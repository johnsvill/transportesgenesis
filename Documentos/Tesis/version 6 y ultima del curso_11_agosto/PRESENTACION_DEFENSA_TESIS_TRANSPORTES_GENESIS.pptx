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la implementación y validación funcional de una plataforma web para Transportes Génesis. El trabajo integra rutas, geolocalización y confirmación diaria de asistencia. La defensa diferencia lo observado de lo que todavía requiere pruebas adicionales.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operación coordina buses, rutas, paradas, estudiantes, pilotos, monitores y familias. Cuando la información se reparte entre llamadas, mensajes y registros separados, se dificulta consultar la ubicación, la ruta y el estado diario del estudiante. La propuesta centraliza esas funciones por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hipótesis se limita al funcionamiento observable. No afirma reducción de tiempos, satisfacción, seguridad física ni adopción productiva. Buscamos verificar si rutas, ubicación y asistencia pueden coexistir y consultarse en una plataforma común.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solución se organiza por capas. Las interfaces se conectan con páginas, controladores y API; los servicios concentran la lógica; Entity Framework Core accede a SQL Server; y SignalR distribuye actualizaciones a los clientes. Leaflet, OpenStreetMap y OSRM apoyan la representación cartográfica.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administrador configura la operación; piloto y monitor consultan el recorrido; y el padre accede al mapa y confirma asistencia por fecha y turno. La optimización de paradas usa una heurística práctica, por lo que no se presenta como una solución globalmente óptima.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navegador obtiene la ubicación del piloto o monitor. La API recibe las coordenadas, el servicio puede persistirlas y SignalR distribuye la actualización al mapa. Usamos el término tiempo casi real porque existe latencia y la precisión depende del dispositivo, permisos y conectividad.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asistencia representa la intención de utilizar el transporte en una fecha y turno; el abordaje representa una recogida operativa. Los videos respaldan la interfaz de asistencia del padre. No se recibió evidencia inequívoca del monitor guardando y recuperando un registro de abordaje.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investigación es aplicada, descriptiva y evaluativa bajo un estudio de caso tecnológico. Se revisaron documentos, dos casos funcionales, evidencia audiovisual y arquitectura. No se realizaron encuestas ni se derivaron porcentajes de satisfacción.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informe del 4 de agosto documenta dos casos del administrador y declara ambos aprobados. Sin embargo, una captura no muestra el mapa esperado y la otra no demuestra una edición guardada. Por eso distinguimos el estado declarado de la verificación visual independiente.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resultado comprobable es la integración observable de rutas, mapas, ubicación y asistencia diaria en un ambiente controlado. El abordaje persistente, el rendimiento, la producción y la aceptación integral no fueron demostrados.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hipótesis queda respaldada dentro del alcance funcional documentado, no como certificación integral. El siguiente paso es verificar persistencia, ampliar pruebas con padres, pilotos y monitores, evaluar autorizaciones negativas y medir latencia, carga y estabilidad.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aporte verificable es una plataforma integrada y una evidencia funcional trazable, acompañada de límites explícitos. Fueron observables rutas, mapas, geolocalización y la interfaz de asistencia; abordaje y pagos requieren validación adicional. Muchas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840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TESIS · DEFENSA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02920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Transportes
Génesis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07792"/>
            <a:ext cx="562356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DBE6F0"/>
                </a:solidFill>
                <a:latin typeface="Aptos"/>
              </a:rPr>
              <a:t>Implementación y validación funcional de una plataforma web de geolocalización, asistencia y abordaje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45152"/>
            <a:ext cx="521208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Jonathan Samuel Villeda Pérez
José David Florián Secaida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41264"/>
            <a:ext cx="5852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6C9D9"/>
                </a:solidFill>
                <a:latin typeface="Aptos"/>
              </a:rPr>
              <a:t>Universidad Galileo · Ingeniería en Ciencias y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25312"/>
            <a:ext cx="5852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EA13D"/>
                </a:solidFill>
                <a:latin typeface="Aptos"/>
              </a:rPr>
              <a:t>[Facultad/Escuela] · [Asesor] · Agosto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914400"/>
            <a:ext cx="4343400" cy="4983480"/>
          </a:xfrm>
          <a:prstGeom prst="roundRect">
            <a:avLst/>
          </a:prstGeom>
          <a:solidFill>
            <a:srgbClr val="132F4C"/>
          </a:solidFill>
          <a:ln>
            <a:solidFill>
              <a:srgbClr val="2E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234440"/>
            <a:ext cx="3657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A6B7"/>
                </a:solidFill>
                <a:latin typeface="Aptos"/>
              </a:rPr>
              <a:t>PLATAFORMA INTEGRADA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1965960"/>
            <a:ext cx="530352" cy="530352"/>
          </a:xfrm>
          <a:prstGeom prst="ellipse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53035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3911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RUTAS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53527" y="2514600"/>
            <a:ext cx="45720" cy="566928"/>
          </a:xfrm>
          <a:prstGeom prst="rect">
            <a:avLst/>
          </a:prstGeom>
          <a:solidFill>
            <a:srgbClr val="425F78"/>
          </a:solidFill>
          <a:ln>
            <a:solidFill>
              <a:srgbClr val="42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06640" y="3063239"/>
            <a:ext cx="530352" cy="530352"/>
          </a:xfrm>
          <a:prstGeom prst="ellipse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154679"/>
            <a:ext cx="53035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136391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UBICACIÓN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53527" y="3611879"/>
            <a:ext cx="45720" cy="566928"/>
          </a:xfrm>
          <a:prstGeom prst="rect">
            <a:avLst/>
          </a:prstGeom>
          <a:solidFill>
            <a:srgbClr val="425F78"/>
          </a:solidFill>
          <a:ln>
            <a:solidFill>
              <a:srgbClr val="42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06640" y="4160520"/>
            <a:ext cx="530352" cy="530352"/>
          </a:xfrm>
          <a:prstGeom prst="ellipse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251959"/>
            <a:ext cx="53035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233672"/>
            <a:ext cx="2377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ASISTENCIA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94960"/>
            <a:ext cx="3703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B6C9D9"/>
                </a:solidFill>
                <a:latin typeface="Aptos"/>
              </a:rPr>
              <a:t>Alcance: validación funcional documentada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Problema y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42062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A1E34"/>
                </a:solidFill>
                <a:latin typeface="Aptos"/>
              </a:rPr>
              <a:t>Información operativa dispersa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12848"/>
            <a:ext cx="4480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73152" cy="868680"/>
          </a:xfrm>
          <a:prstGeom prst="roundRect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77440"/>
            <a:ext cx="40690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Llamadas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98064"/>
            <a:ext cx="406908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Ubicación comunicada de forma aislada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55848"/>
            <a:ext cx="4480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3355848"/>
            <a:ext cx="73152" cy="868680"/>
          </a:xfrm>
          <a:prstGeom prst="roundRect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520440"/>
            <a:ext cx="40690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Mensajes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41064"/>
            <a:ext cx="406908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Cambios de ruta sin trazabilidad común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98848"/>
            <a:ext cx="4480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498848"/>
            <a:ext cx="73152" cy="868680"/>
          </a:xfrm>
          <a:prstGeom prst="roundRect">
            <a:avLst/>
          </a:prstGeom>
          <a:solidFill>
            <a:srgbClr val="62707F"/>
          </a:solidFill>
          <a:ln>
            <a:solidFill>
              <a:srgbClr val="62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663440"/>
            <a:ext cx="40690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Registros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84064"/>
            <a:ext cx="406908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Asistencia y recogidas separadas</a:t>
            </a:r>
          </a:p>
        </p:txBody>
      </p:sp>
      <p:sp>
        <p:nvSpPr>
          <p:cNvPr id="19" name="Chevron 18"/>
          <p:cNvSpPr/>
          <p:nvPr/>
        </p:nvSpPr>
        <p:spPr>
          <a:xfrm>
            <a:off x="5413248" y="2788920"/>
            <a:ext cx="960120" cy="1280160"/>
          </a:xfrm>
          <a:prstGeom prst="chevron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1828800"/>
            <a:ext cx="4617720" cy="3611880"/>
          </a:xfrm>
          <a:prstGeom prst="roundRect">
            <a:avLst/>
          </a:prstGeom>
          <a:solidFill>
            <a:srgbClr val="0A1E34"/>
          </a:solidFill>
          <a:ln>
            <a:solidFill>
              <a:srgbClr val="0A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221992"/>
            <a:ext cx="38862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PLATAFORMA COMÚN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852928"/>
            <a:ext cx="3886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AA6B7"/>
                </a:solidFill>
                <a:latin typeface="Aptos"/>
              </a:rPr>
              <a:t>Rutas  ·  Mapas  ·  Asistencia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584448"/>
            <a:ext cx="370332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Objetivo operativo
Centralizar la consulta y mejorar la trazabilidad por roles.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901184"/>
            <a:ext cx="3886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EA13D"/>
                </a:solidFill>
                <a:latin typeface="Aptos"/>
              </a:rPr>
              <a:t>No equivale a garantizar seguridad física.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elaboración propia con base en la tesis final.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ALCANCE VERIFICABLE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Hipótesis y objetivos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7040880" cy="1417320"/>
          </a:xfrm>
          <a:prstGeom prst="roundRect">
            <a:avLst/>
          </a:prstGeom>
          <a:solidFill>
            <a:srgbClr val="0A1E34"/>
          </a:solidFill>
          <a:ln>
            <a:solidFill>
              <a:srgbClr val="0A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3291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A6B7"/>
                </a:solidFill>
                <a:latin typeface="Aptos"/>
              </a:rPr>
              <a:t>HIPÓTESIS DE INVESTIGACIÓN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6355080" cy="5852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La integración funcional de geolocalización y asistencia permite centralizar el monitoreo de buses y rutas y representar confirmaciones diarias.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3568" y="1737360"/>
            <a:ext cx="73152" cy="1417320"/>
          </a:xfrm>
          <a:prstGeom prst="roundRect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901952"/>
            <a:ext cx="29260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Criterio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2322576"/>
            <a:ext cx="2926080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Evidencia observable y trazable en ambiente controlado.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3337560" cy="1481328"/>
          </a:xfrm>
          <a:prstGeom prst="roundRect">
            <a:avLst/>
          </a:prstGeom>
          <a:solidFill>
            <a:srgbClr val="F1F5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867912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A6B7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840480"/>
            <a:ext cx="22860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Geolocalización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343400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Monitoreo de buses y rutas en tiempo casi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657600"/>
            <a:ext cx="3337560" cy="1481328"/>
          </a:xfrm>
          <a:prstGeom prst="roundRect">
            <a:avLst/>
          </a:prstGeom>
          <a:solidFill>
            <a:srgbClr val="F1F5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867912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A6B7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840480"/>
            <a:ext cx="22860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Asistencia / abordaje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343400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Confirmación diaria; abordaje sujeto a evidencia.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3657600"/>
            <a:ext cx="3337560" cy="1481328"/>
          </a:xfrm>
          <a:prstGeom prst="roundRect">
            <a:avLst/>
          </a:prstGeom>
          <a:solidFill>
            <a:srgbClr val="F1F5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3867912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A6B7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3840480"/>
            <a:ext cx="22860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Documentación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343400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Casos funcionales, material audiovisual y límites.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96128"/>
            <a:ext cx="10652760" cy="475488"/>
          </a:xfrm>
          <a:prstGeom prst="roundRect">
            <a:avLst/>
          </a:prstGeom>
          <a:solidFill>
            <a:srgbClr val="FFF8E8"/>
          </a:solidFill>
          <a:ln>
            <a:solidFill>
              <a:srgbClr val="F8D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05856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905C10"/>
                </a:solidFill>
                <a:latin typeface="Aptos"/>
              </a:rPr>
              <a:t>NO AFIRMA: reducción de tiempos · satisfacción · seguridad física · producción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elaboración propia con base en la tesis final.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DISEÑO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Solución y arquitectura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1089964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_4_2_arquitectura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10469880" cy="34655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6035040"/>
            <a:ext cx="17373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53328"/>
            <a:ext cx="1737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5BA8"/>
                </a:solidFill>
                <a:latin typeface="Aptos"/>
              </a:rPr>
              <a:t>ASP.NET Core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6035040"/>
            <a:ext cx="13716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6053328"/>
            <a:ext cx="1371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AA6B7"/>
                </a:solidFill>
                <a:latin typeface="Aptos"/>
              </a:rPr>
              <a:t>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7096" y="6035040"/>
            <a:ext cx="11430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6053328"/>
            <a:ext cx="1143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EA13D"/>
                </a:solidFill>
                <a:latin typeface="Aptos"/>
              </a:rPr>
              <a:t>SignalR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6035040"/>
            <a:ext cx="15087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6053328"/>
            <a:ext cx="1508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8B57"/>
                </a:solidFill>
                <a:latin typeface="Aptos"/>
              </a:rPr>
              <a:t>Leaflet + OSM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6035040"/>
            <a:ext cx="11430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6053328"/>
            <a:ext cx="1143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5BA8"/>
                </a:solidFill>
                <a:latin typeface="Aptos"/>
              </a:rPr>
              <a:t>EF 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6035040"/>
            <a:ext cx="11430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6053328"/>
            <a:ext cx="11430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2707F"/>
                </a:solidFill>
                <a:latin typeface="Aptos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Figura 4.2 de la tesis; diagrama del proyecto.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Roles y flujo operativo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1328" y="1975104"/>
            <a:ext cx="777240" cy="777240"/>
          </a:xfrm>
          <a:prstGeom prst="ellipse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148840"/>
            <a:ext cx="777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907792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A1E34"/>
                </a:solidFill>
                <a:latin typeface="Aptos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1965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Configura buses,
rutas y paradas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78308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0248" y="1975104"/>
            <a:ext cx="777240" cy="777240"/>
          </a:xfrm>
          <a:prstGeom prst="ellipse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2148840"/>
            <a:ext cx="777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907792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A1E34"/>
                </a:solidFill>
                <a:latin typeface="Aptos"/>
              </a:rPr>
              <a:t>PILOTO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246120"/>
            <a:ext cx="1965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Consulta ruta y
reporta ubicación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78308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59168" y="1975104"/>
            <a:ext cx="777240" cy="777240"/>
          </a:xfrm>
          <a:prstGeom prst="ellipse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2148840"/>
            <a:ext cx="777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907792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A1E34"/>
                </a:solidFill>
                <a:latin typeface="Aptos"/>
              </a:rPr>
              <a:t>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246120"/>
            <a:ext cx="1965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Revisa alumnos y
registra recogidas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178308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48088" y="1975104"/>
            <a:ext cx="777240" cy="777240"/>
          </a:xfrm>
          <a:prstGeom prst="ellipse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2148840"/>
            <a:ext cx="777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907792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A1E34"/>
                </a:solidFill>
                <a:latin typeface="Aptos"/>
              </a:rPr>
              <a:t>PADRE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246120"/>
            <a:ext cx="1965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Consulta mapa y
confirma asistencia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6052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A1E34"/>
                </a:solidFill>
                <a:latin typeface="Aptos"/>
              </a:rPr>
              <a:t>Flujo común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90872"/>
            <a:ext cx="2057400" cy="685800"/>
          </a:xfrm>
          <a:prstGeom prst="roundRect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82896"/>
            <a:ext cx="2057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Configurar</a:t>
            </a:r>
          </a:p>
        </p:txBody>
      </p:sp>
      <p:sp>
        <p:nvSpPr>
          <p:cNvPr id="29" name="Chevron 28"/>
          <p:cNvSpPr/>
          <p:nvPr/>
        </p:nvSpPr>
        <p:spPr>
          <a:xfrm>
            <a:off x="2926080" y="4818888"/>
            <a:ext cx="457200" cy="438912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66160" y="4690872"/>
            <a:ext cx="2057400" cy="685800"/>
          </a:xfrm>
          <a:prstGeom prst="roundRect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4882896"/>
            <a:ext cx="2057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Recorrer</a:t>
            </a:r>
          </a:p>
        </p:txBody>
      </p:sp>
      <p:sp>
        <p:nvSpPr>
          <p:cNvPr id="32" name="Chevron 31"/>
          <p:cNvSpPr/>
          <p:nvPr/>
        </p:nvSpPr>
        <p:spPr>
          <a:xfrm>
            <a:off x="5715000" y="4818888"/>
            <a:ext cx="457200" cy="438912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79" y="4690872"/>
            <a:ext cx="2057400" cy="685800"/>
          </a:xfrm>
          <a:prstGeom prst="roundRect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79" y="4882896"/>
            <a:ext cx="2057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Reportar</a:t>
            </a:r>
          </a:p>
        </p:txBody>
      </p:sp>
      <p:sp>
        <p:nvSpPr>
          <p:cNvPr id="35" name="Chevron 34"/>
          <p:cNvSpPr/>
          <p:nvPr/>
        </p:nvSpPr>
        <p:spPr>
          <a:xfrm>
            <a:off x="8503919" y="4818888"/>
            <a:ext cx="457200" cy="438912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3999" y="4690872"/>
            <a:ext cx="2057400" cy="685800"/>
          </a:xfrm>
          <a:prstGeom prst="roundRect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3999" y="4882896"/>
            <a:ext cx="2057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Consultar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15000"/>
            <a:ext cx="10287000" cy="4114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797296"/>
            <a:ext cx="10012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Rutas por bus y turno · Orden de paradas mediante heurística de vecino más cercano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elaboración propia con base en la tesis final.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FLUJO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Geolocalización en tiempo casi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965960"/>
            <a:ext cx="230428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212848"/>
            <a:ext cx="804672" cy="804672"/>
          </a:xfrm>
          <a:prstGeom prst="ellipse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04872"/>
            <a:ext cx="804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17296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E34"/>
                </a:solidFill>
                <a:latin typeface="Aptos"/>
              </a:rPr>
              <a:t>NAVEGADOR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9300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GPS o simulación</a:t>
            </a:r>
          </a:p>
        </p:txBody>
      </p:sp>
      <p:sp>
        <p:nvSpPr>
          <p:cNvPr id="11" name="Chevron 10"/>
          <p:cNvSpPr/>
          <p:nvPr/>
        </p:nvSpPr>
        <p:spPr>
          <a:xfrm>
            <a:off x="2971800" y="2679192"/>
            <a:ext cx="402336" cy="512064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008" y="1965960"/>
            <a:ext cx="230428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212848"/>
            <a:ext cx="804672" cy="804672"/>
          </a:xfrm>
          <a:prstGeom prst="ellipse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2404872"/>
            <a:ext cx="804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17296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E34"/>
                </a:solidFill>
                <a:latin typeface="Aptos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49300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Recibe coordenadas</a:t>
            </a:r>
          </a:p>
        </p:txBody>
      </p:sp>
      <p:sp>
        <p:nvSpPr>
          <p:cNvPr id="17" name="Chevron 16"/>
          <p:cNvSpPr/>
          <p:nvPr/>
        </p:nvSpPr>
        <p:spPr>
          <a:xfrm>
            <a:off x="5843016" y="2679192"/>
            <a:ext cx="402336" cy="512064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4224" y="1965960"/>
            <a:ext cx="230428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14032" y="2212848"/>
            <a:ext cx="804672" cy="804672"/>
          </a:xfrm>
          <a:prstGeom prst="ellipse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404872"/>
            <a:ext cx="804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17296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E34"/>
                </a:solidFill>
                <a:latin typeface="Aptos"/>
              </a:rPr>
              <a:t>SERVICIO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49300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Persiste y emite</a:t>
            </a:r>
          </a:p>
        </p:txBody>
      </p:sp>
      <p:sp>
        <p:nvSpPr>
          <p:cNvPr id="23" name="Chevron 22"/>
          <p:cNvSpPr/>
          <p:nvPr/>
        </p:nvSpPr>
        <p:spPr>
          <a:xfrm>
            <a:off x="8714232" y="2679192"/>
            <a:ext cx="402336" cy="512064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965960"/>
            <a:ext cx="230428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85248" y="2212848"/>
            <a:ext cx="804672" cy="804672"/>
          </a:xfrm>
          <a:prstGeom prst="ellipse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404872"/>
            <a:ext cx="804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317296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E34"/>
                </a:solidFill>
                <a:latin typeface="Aptos"/>
              </a:rPr>
              <a:t>MAPA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3493008"/>
            <a:ext cx="19385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Actualiza clientes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43984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4443984"/>
            <a:ext cx="73152" cy="1143000"/>
          </a:xfrm>
          <a:prstGeom prst="roundRect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60857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Tecnologías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029200"/>
            <a:ext cx="283464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watchPosition · API REST · SQL Server · SignalR · Leaflet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8808" y="4443984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78808" y="4443984"/>
            <a:ext cx="73152" cy="1143000"/>
          </a:xfrm>
          <a:prstGeom prst="roundRect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460857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Interpretación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5029200"/>
            <a:ext cx="283464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“Casi real” reconoce latencia entre captura y visualización.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4443984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99248" y="4443984"/>
            <a:ext cx="73152" cy="1143000"/>
          </a:xfrm>
          <a:prstGeom prst="roundRect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4608576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Dependencias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7848" y="5029200"/>
            <a:ext cx="2834640" cy="429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Permiso, precisión del dispositivo y conectividad.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824728"/>
            <a:ext cx="10287000" cy="411480"/>
          </a:xfrm>
          <a:prstGeom prst="roundRect">
            <a:avLst/>
          </a:prstGeom>
          <a:solidFill>
            <a:srgbClr val="F5F9FC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907024"/>
            <a:ext cx="9875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8B57"/>
                </a:solidFill>
                <a:latin typeface="Aptos"/>
              </a:rPr>
              <a:t>Resultado observado: pantallas de ruta, mapa y ubicación en evidencia audiovisual.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elaboración propia con base en la tesis final.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DOS EVENTOS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Asistencia y abordaje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7452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_4_5_asistencia_abord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84831"/>
            <a:ext cx="7086600" cy="42122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73736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1737360"/>
            <a:ext cx="73152" cy="1417320"/>
          </a:xfrm>
          <a:prstGeom prst="roundRect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901952"/>
            <a:ext cx="2514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ASISTENCIA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22576"/>
            <a:ext cx="2514600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Confirmación por fecha y turno observable en el perfil del padre.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401568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3401568"/>
            <a:ext cx="73152" cy="1417320"/>
          </a:xfrm>
          <a:prstGeom prst="roundRect">
            <a:avLst/>
          </a:prstGeom>
          <a:solidFill>
            <a:srgbClr val="E6A92D"/>
          </a:solidFill>
          <a:ln>
            <a:solidFill>
              <a:srgbClr val="E6A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2514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ABORDAJE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986784"/>
            <a:ext cx="2514600" cy="7040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Flujo diseñado; no se demostró una operación guardada y recuperada.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5074920"/>
            <a:ext cx="2926080" cy="914400"/>
          </a:xfrm>
          <a:prstGeom prst="roundRect">
            <a:avLst/>
          </a:prstGeom>
          <a:solidFill>
            <a:srgbClr val="FFF8E8"/>
          </a:solidFill>
          <a:ln>
            <a:solidFill>
              <a:srgbClr val="F8D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5303520"/>
            <a:ext cx="2423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905C10"/>
                </a:solidFill>
                <a:latin typeface="Aptos"/>
              </a:rPr>
              <a:t>No confundir confirmación previa con recogida real.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Figura 4.5 de la tesis. Representa el flujo diseñado.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ESTUDIO DE CASO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Metodología y evidencia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" y="1828800"/>
            <a:ext cx="658368" cy="658368"/>
          </a:xfrm>
          <a:prstGeom prst="ellipse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984248"/>
            <a:ext cx="65836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Chevron 7"/>
          <p:cNvSpPr/>
          <p:nvPr/>
        </p:nvSpPr>
        <p:spPr>
          <a:xfrm>
            <a:off x="2075688" y="1993392"/>
            <a:ext cx="438912" cy="347472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24912"/>
            <a:ext cx="1783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E34"/>
                </a:solidFill>
                <a:latin typeface="Aptos"/>
              </a:rPr>
              <a:t>INVENTARIO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1783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Reunir documentos y archivos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1828800"/>
            <a:ext cx="658368" cy="658368"/>
          </a:xfrm>
          <a:prstGeom prst="ellipse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84248"/>
            <a:ext cx="65836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Chevron 12"/>
          <p:cNvSpPr/>
          <p:nvPr/>
        </p:nvSpPr>
        <p:spPr>
          <a:xfrm>
            <a:off x="4343400" y="1993392"/>
            <a:ext cx="438912" cy="347472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2724912"/>
            <a:ext cx="1783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E34"/>
                </a:solidFill>
                <a:latin typeface="Aptos"/>
              </a:rPr>
              <a:t>CLASIFICACIÓN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108960"/>
            <a:ext cx="1783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Ordenar por rol y módulo</a:t>
            </a:r>
          </a:p>
        </p:txBody>
      </p:sp>
      <p:sp>
        <p:nvSpPr>
          <p:cNvPr id="16" name="Oval 15"/>
          <p:cNvSpPr/>
          <p:nvPr/>
        </p:nvSpPr>
        <p:spPr>
          <a:xfrm>
            <a:off x="5696712" y="1828800"/>
            <a:ext cx="658368" cy="658368"/>
          </a:xfrm>
          <a:prstGeom prst="ellipse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1984248"/>
            <a:ext cx="65836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Chevron 17"/>
          <p:cNvSpPr/>
          <p:nvPr/>
        </p:nvSpPr>
        <p:spPr>
          <a:xfrm>
            <a:off x="6611112" y="1993392"/>
            <a:ext cx="438912" cy="347472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4" y="2724912"/>
            <a:ext cx="1783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E34"/>
                </a:solidFill>
                <a:latin typeface="Aptos"/>
              </a:rPr>
              <a:t>CONTRASTE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3108960"/>
            <a:ext cx="1783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Comparar esperado y observado</a:t>
            </a:r>
          </a:p>
        </p:txBody>
      </p:sp>
      <p:sp>
        <p:nvSpPr>
          <p:cNvPr id="21" name="Oval 20"/>
          <p:cNvSpPr/>
          <p:nvPr/>
        </p:nvSpPr>
        <p:spPr>
          <a:xfrm>
            <a:off x="7964423" y="1828800"/>
            <a:ext cx="658368" cy="658368"/>
          </a:xfrm>
          <a:prstGeom prst="ellipse">
            <a:avLst/>
          </a:prstGeom>
          <a:solidFill>
            <a:srgbClr val="62707F"/>
          </a:solidFill>
          <a:ln>
            <a:solidFill>
              <a:srgbClr val="62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3" y="1984248"/>
            <a:ext cx="65836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Chevron 22"/>
          <p:cNvSpPr/>
          <p:nvPr/>
        </p:nvSpPr>
        <p:spPr>
          <a:xfrm>
            <a:off x="8878824" y="1993392"/>
            <a:ext cx="438912" cy="347472"/>
          </a:xfrm>
          <a:prstGeom prst="chevron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2724912"/>
            <a:ext cx="1783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E34"/>
                </a:solidFill>
                <a:latin typeface="Aptos"/>
              </a:rPr>
              <a:t>LÍMITES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3108960"/>
            <a:ext cx="1783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Separar evidencia y ausencia</a:t>
            </a:r>
          </a:p>
        </p:txBody>
      </p:sp>
      <p:sp>
        <p:nvSpPr>
          <p:cNvPr id="26" name="Oval 25"/>
          <p:cNvSpPr/>
          <p:nvPr/>
        </p:nvSpPr>
        <p:spPr>
          <a:xfrm>
            <a:off x="10232136" y="1828800"/>
            <a:ext cx="658368" cy="658368"/>
          </a:xfrm>
          <a:prstGeom prst="ellipse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32136" y="1984248"/>
            <a:ext cx="65836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2724912"/>
            <a:ext cx="1783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E34"/>
                </a:solidFill>
                <a:latin typeface="Aptos"/>
              </a:rPr>
              <a:t>CONCLUSIÓN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3108960"/>
            <a:ext cx="1783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707F"/>
                </a:solidFill>
                <a:latin typeface="Aptos"/>
              </a:rPr>
              <a:t>Responder con alcance explícito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160520"/>
            <a:ext cx="32461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160520"/>
            <a:ext cx="73152" cy="1298448"/>
          </a:xfrm>
          <a:prstGeom prst="roundRect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325112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Enfoque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745736"/>
            <a:ext cx="2834640" cy="5852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Aplicado · descriptivo · evaluativo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78808" y="4160520"/>
            <a:ext cx="32461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78808" y="4160520"/>
            <a:ext cx="73152" cy="1298448"/>
          </a:xfrm>
          <a:prstGeom prst="roundRect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4325112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Fuentes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745736"/>
            <a:ext cx="2834640" cy="5852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Informe funcional · videos · fotografías · arquitectura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9248" y="4160520"/>
            <a:ext cx="32461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99248" y="4160520"/>
            <a:ext cx="73152" cy="1298448"/>
          </a:xfrm>
          <a:prstGeom prst="roundRect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7848" y="4325112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E34"/>
                </a:solidFill>
                <a:latin typeface="Aptos"/>
              </a:rPr>
              <a:t>No disponible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7848" y="4745736"/>
            <a:ext cx="2834640" cy="5852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Encuestas · carga · acta formal · uso productivo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742432"/>
            <a:ext cx="10287000" cy="4114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824728"/>
            <a:ext cx="9784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E34"/>
                </a:solidFill>
                <a:latin typeface="Aptos"/>
              </a:rPr>
              <a:t>Regla metodológica: afirmar únicamente lo trazable en la evidencia recibida.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elaboración propia con base en la tesis final.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INFORME DEL 4 DE 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Pruebas y escenarios documentados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1208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73152" cy="2487168"/>
          </a:xfrm>
          <a:prstGeom prst="roundRect">
            <a:avLst/>
          </a:prstGeom>
          <a:solidFill>
            <a:srgbClr val="1E5BA8"/>
          </a:solidFill>
          <a:ln>
            <a:solidFill>
              <a:srgbClr val="1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4800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1E34"/>
                </a:solidFill>
                <a:latin typeface="Aptos"/>
              </a:rPr>
              <a:t>UAT-001 · Calcular y ver ruta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4800600" cy="1773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Esperado
Datos del bus y mapa con paradas numeradas.
Visible
Cálculo para un bus y cinco paradas; no aparece el mapa de detalle esperado.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719072"/>
            <a:ext cx="521208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08192" y="1719072"/>
            <a:ext cx="73152" cy="2487168"/>
          </a:xfrm>
          <a:prstGeom prst="roundRect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883664"/>
            <a:ext cx="4800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1E34"/>
                </a:solidFill>
                <a:latin typeface="Aptos"/>
              </a:rPr>
              <a:t>UAT-002 · Calcular y editar paradas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304288"/>
            <a:ext cx="4800600" cy="1773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02D3D"/>
                </a:solidFill>
                <a:latin typeface="Aptos"/>
              </a:rPr>
              <a:t>Esperado
Gestión de paradas con opciones de edición.
Visible
Detalle y mapa; no se muestran controles de edición ni una operación guardada.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26280"/>
            <a:ext cx="10661904" cy="1051560"/>
          </a:xfrm>
          <a:prstGeom prst="roundRect">
            <a:avLst/>
          </a:prstGeom>
          <a:solidFill>
            <a:srgbClr val="0A1E34"/>
          </a:solidFill>
          <a:ln>
            <a:solidFill>
              <a:srgbClr val="0A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45736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 DE 2 DECLARADOS APROBADOS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754880"/>
            <a:ext cx="6172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EEA13D"/>
                </a:solidFill>
                <a:latin typeface="Aptos"/>
              </a:rPr>
              <a:t>Estado del informe ≠ verificación visual completa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24728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Ambos casos corresponden al perfil administrador.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5824728"/>
            <a:ext cx="4892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84343"/>
                </a:solidFill>
                <a:latin typeface="Aptos"/>
              </a:rPr>
              <a:t>No usar «100 %» como cobertura del sistema.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informe funcional v1.0.0 citado en la tesis.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MATRIZ DE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Resultados y alcance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64792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3337560" cy="658368"/>
          </a:xfrm>
          <a:prstGeom prst="roundRect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56816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RESPALDADO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92608" cy="292608"/>
          </a:xfrm>
          <a:prstGeom prst="ellipse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6090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02D3D"/>
                </a:solidFill>
                <a:latin typeface="Aptos"/>
              </a:rPr>
              <a:t>Rutas y mapas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474720"/>
            <a:ext cx="292608" cy="292608"/>
          </a:xfrm>
          <a:prstGeom prst="ellipse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10712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Ubicación observable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24528"/>
            <a:ext cx="292608" cy="292608"/>
          </a:xfrm>
          <a:prstGeom prst="ellipse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160520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Asistencia en interfaz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764792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5968" y="1764792"/>
            <a:ext cx="3337560" cy="658368"/>
          </a:xfrm>
          <a:prstGeom prst="roundRect">
            <a:avLst/>
          </a:prstGeom>
          <a:solidFill>
            <a:srgbClr val="E6A92D"/>
          </a:solidFill>
          <a:ln>
            <a:solidFill>
              <a:srgbClr val="E6A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956816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PARCIAL</a:t>
            </a:r>
          </a:p>
        </p:txBody>
      </p:sp>
      <p:sp>
        <p:nvSpPr>
          <p:cNvPr id="18" name="Oval 17"/>
          <p:cNvSpPr/>
          <p:nvPr/>
        </p:nvSpPr>
        <p:spPr>
          <a:xfrm>
            <a:off x="4590288" y="2724912"/>
            <a:ext cx="292608" cy="292608"/>
          </a:xfrm>
          <a:prstGeom prst="ellipse">
            <a:avLst/>
          </a:prstGeom>
          <a:solidFill>
            <a:srgbClr val="E6A92D"/>
          </a:solidFill>
          <a:ln>
            <a:solidFill>
              <a:srgbClr val="E6A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66090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02D3D"/>
                </a:solidFill>
                <a:latin typeface="Aptos"/>
              </a:rPr>
              <a:t>Edición de paradas</a:t>
            </a:r>
          </a:p>
        </p:txBody>
      </p:sp>
      <p:sp>
        <p:nvSpPr>
          <p:cNvPr id="20" name="Oval 19"/>
          <p:cNvSpPr/>
          <p:nvPr/>
        </p:nvSpPr>
        <p:spPr>
          <a:xfrm>
            <a:off x="4590288" y="3474720"/>
            <a:ext cx="292608" cy="292608"/>
          </a:xfrm>
          <a:prstGeom prst="ellipse">
            <a:avLst/>
          </a:prstGeom>
          <a:solidFill>
            <a:srgbClr val="E6A92D"/>
          </a:solidFill>
          <a:ln>
            <a:solidFill>
              <a:srgbClr val="E6A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410712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Persistencia de asistencia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1764792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73568" y="1764792"/>
            <a:ext cx="3337560" cy="658368"/>
          </a:xfrm>
          <a:prstGeom prst="roundRect">
            <a:avLst/>
          </a:prstGeom>
          <a:solidFill>
            <a:srgbClr val="62707F"/>
          </a:solidFill>
          <a:ln>
            <a:solidFill>
              <a:srgbClr val="62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1956816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PENDIENTE</a:t>
            </a:r>
          </a:p>
        </p:txBody>
      </p:sp>
      <p:sp>
        <p:nvSpPr>
          <p:cNvPr id="25" name="Oval 24"/>
          <p:cNvSpPr/>
          <p:nvPr/>
        </p:nvSpPr>
        <p:spPr>
          <a:xfrm>
            <a:off x="8247888" y="2724912"/>
            <a:ext cx="292608" cy="292608"/>
          </a:xfrm>
          <a:prstGeom prst="ellipse">
            <a:avLst/>
          </a:prstGeom>
          <a:solidFill>
            <a:srgbClr val="62707F"/>
          </a:solidFill>
          <a:ln>
            <a:solidFill>
              <a:srgbClr val="62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66090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02D3D"/>
                </a:solidFill>
                <a:latin typeface="Aptos"/>
              </a:rPr>
              <a:t>Abordaje persistente</a:t>
            </a:r>
          </a:p>
        </p:txBody>
      </p:sp>
      <p:sp>
        <p:nvSpPr>
          <p:cNvPr id="27" name="Oval 26"/>
          <p:cNvSpPr/>
          <p:nvPr/>
        </p:nvSpPr>
        <p:spPr>
          <a:xfrm>
            <a:off x="8247888" y="3474720"/>
            <a:ext cx="292608" cy="292608"/>
          </a:xfrm>
          <a:prstGeom prst="ellipse">
            <a:avLst/>
          </a:prstGeom>
          <a:solidFill>
            <a:srgbClr val="62707F"/>
          </a:solidFill>
          <a:ln>
            <a:solidFill>
              <a:srgbClr val="62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410712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Rendimiento y producción</a:t>
            </a:r>
          </a:p>
        </p:txBody>
      </p:sp>
      <p:sp>
        <p:nvSpPr>
          <p:cNvPr id="29" name="Oval 28"/>
          <p:cNvSpPr/>
          <p:nvPr/>
        </p:nvSpPr>
        <p:spPr>
          <a:xfrm>
            <a:off x="8247888" y="4224528"/>
            <a:ext cx="292608" cy="292608"/>
          </a:xfrm>
          <a:prstGeom prst="ellipse">
            <a:avLst/>
          </a:prstGeom>
          <a:solidFill>
            <a:srgbClr val="62707F"/>
          </a:solidFill>
          <a:ln>
            <a:solidFill>
              <a:srgbClr val="62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160520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2D3D"/>
                </a:solidFill>
                <a:latin typeface="Aptos"/>
              </a:rPr>
              <a:t>Aceptación formal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614416"/>
            <a:ext cx="1065276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69864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A1E34"/>
                </a:solidFill>
                <a:latin typeface="Aptos"/>
              </a:rPr>
              <a:t>Conclusión restringida a un ambiente controlado y a las pantallas observadas.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elaboración propia con base en la tesis final.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94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01752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707F"/>
                </a:solidFill>
                <a:latin typeface="Aptos"/>
              </a:rPr>
              <a:t>CONCLUSIÓN DEFENDIBLE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1E34"/>
                </a:solidFill>
                <a:latin typeface="Aptos"/>
              </a:rPr>
              <a:t>Evaluación de hipótesis y 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1155680" cy="2286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4983480" cy="2176272"/>
          </a:xfrm>
          <a:prstGeom prst="roundRect">
            <a:avLst/>
          </a:prstGeom>
          <a:solidFill>
            <a:srgbClr val="0A1E34"/>
          </a:solidFill>
          <a:ln>
            <a:solidFill>
              <a:srgbClr val="0A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A6B7"/>
                </a:solidFill>
                <a:latin typeface="Aptos"/>
              </a:rPr>
              <a:t>HIPÓTESIS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4297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RESPALDADA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41605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BDAE6"/>
                </a:solidFill>
                <a:latin typeface="Aptos"/>
              </a:rPr>
              <a:t>dentro del alcance funcional documentado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1737360"/>
            <a:ext cx="5394960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25312" y="1737360"/>
            <a:ext cx="73152" cy="2176272"/>
          </a:xfrm>
          <a:prstGeom prst="roundRect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901952"/>
            <a:ext cx="49834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A1E34"/>
                </a:solidFill>
                <a:latin typeface="Aptos"/>
              </a:rPr>
              <a:t>NO CERTIFICA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2322576"/>
            <a:ext cx="4983480" cy="1463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02D3D"/>
                </a:solidFill>
                <a:latin typeface="Aptos"/>
              </a:rPr>
              <a:t>Producción · reducción de tiempos · satisfacción · seguridad física · abordaje persistente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70832"/>
            <a:ext cx="2194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1E34"/>
                </a:solidFill>
                <a:latin typeface="Aptos"/>
              </a:rPr>
              <a:t>Trabajo futuro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919472"/>
            <a:ext cx="3337560" cy="896112"/>
          </a:xfrm>
          <a:prstGeom prst="roundRect">
            <a:avLst/>
          </a:prstGeom>
          <a:solidFill>
            <a:srgbClr val="F1F5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166360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A6B7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5074920"/>
            <a:ext cx="2423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02D3D"/>
                </a:solidFill>
                <a:latin typeface="Aptos"/>
              </a:rPr>
              <a:t>Verificar persistencia de asistencia y abordaje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4919472"/>
            <a:ext cx="3337560" cy="896112"/>
          </a:xfrm>
          <a:prstGeom prst="roundRect">
            <a:avLst/>
          </a:prstGeom>
          <a:solidFill>
            <a:srgbClr val="F1F5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5166360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A6B7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5074920"/>
            <a:ext cx="2423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02D3D"/>
                </a:solidFill>
                <a:latin typeface="Aptos"/>
              </a:rPr>
              <a:t>Ampliar pruebas con padres, pilotos y monitores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4919472"/>
            <a:ext cx="3337560" cy="896112"/>
          </a:xfrm>
          <a:prstGeom prst="roundRect">
            <a:avLst/>
          </a:prstGeom>
          <a:solidFill>
            <a:srgbClr val="F1F5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5166360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A6B7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5074920"/>
            <a:ext cx="2423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02D3D"/>
                </a:solidFill>
                <a:latin typeface="Aptos"/>
              </a:rPr>
              <a:t>Medir latencia, carga, estabilidad y autorizaciones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9966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2707F"/>
                </a:solidFill>
                <a:latin typeface="Aptos"/>
              </a:rPr>
              <a:t>Fuente: elaboración propia con base en la tesis final.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2707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3474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A6B7"/>
                </a:solidFill>
                <a:latin typeface="Aptos"/>
              </a:rPr>
              <a:t>APORTE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22376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Una plataforma integrada
con evidencia trazable.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572768" cy="457200"/>
          </a:xfrm>
          <a:prstGeom prst="roundRect">
            <a:avLst/>
          </a:prstGeom>
          <a:solidFill>
            <a:srgbClr val="268B57"/>
          </a:solidFill>
          <a:ln>
            <a:solidFill>
              <a:srgbClr val="26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63824"/>
            <a:ext cx="15727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OBSERVABLE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090672"/>
            <a:ext cx="71323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AE5EF"/>
                </a:solidFill>
                <a:latin typeface="Aptos"/>
              </a:rPr>
              <a:t>Rutas · mapas · geolocalización · asistencia en interfaz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1572768" cy="457200"/>
          </a:xfrm>
          <a:prstGeom prst="roundRect">
            <a:avLst/>
          </a:prstGeom>
          <a:solidFill>
            <a:srgbClr val="EEA13D"/>
          </a:solidFill>
          <a:ln>
            <a:solidFill>
              <a:srgbClr val="EEA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86784"/>
            <a:ext cx="15727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PENDIENTE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913632"/>
            <a:ext cx="71323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AE5EF"/>
                </a:solidFill>
                <a:latin typeface="Aptos"/>
              </a:rPr>
              <a:t>Abordaje persistente · rendimiento · aceptación integral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572768" cy="457200"/>
          </a:xfrm>
          <a:prstGeom prst="roundRect">
            <a:avLst/>
          </a:prstGeom>
          <a:solidFill>
            <a:srgbClr val="1AA6B7"/>
          </a:solidFill>
          <a:ln>
            <a:solidFill>
              <a:srgbClr val="1AA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09744"/>
            <a:ext cx="15727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COMPLEMENTARIO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736592"/>
            <a:ext cx="71323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AE5EF"/>
                </a:solidFill>
                <a:latin typeface="Aptos"/>
              </a:rPr>
              <a:t>Pagos fuera de la hipótesis evaluada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005840"/>
            <a:ext cx="2560320" cy="4526280"/>
          </a:xfrm>
          <a:prstGeom prst="roundRect">
            <a:avLst/>
          </a:prstGeom>
          <a:solidFill>
            <a:srgbClr val="132F4C"/>
          </a:solidFill>
          <a:ln>
            <a:solidFill>
              <a:srgbClr val="2E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2057400"/>
            <a:ext cx="21488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¿PREGUNTAS?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880360"/>
            <a:ext cx="21488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A6B7"/>
                </a:solidFill>
                <a:latin typeface="Aptos"/>
              </a:rPr>
              <a:t>Gracias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3822191"/>
            <a:ext cx="2148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6C9D9"/>
                </a:solidFill>
                <a:latin typeface="Aptos"/>
              </a:rPr>
              <a:t>Transportes Génesis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3931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9B0C3"/>
                </a:solidFill>
                <a:latin typeface="Aptos"/>
              </a:rPr>
              <a:t>Universidad Galileo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de tesis — Transportes Génesis</dc:title>
  <dc:subject>Presentación académica de resultados y alcance funcional</dc:subject>
  <dc:creator>Jonathan Samuel Villeda Pérez y José David Florián Secaida</dc:creator>
  <cp:keywords>tesis, Transportes Génesis, geolocalización, asistencia, UAT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