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7" r:id="rId5"/>
    <p:sldId id="269" r:id="rId6"/>
    <p:sldId id="268" r:id="rId7"/>
    <p:sldId id="270" r:id="rId8"/>
    <p:sldId id="259" r:id="rId9"/>
    <p:sldId id="260" r:id="rId10"/>
    <p:sldId id="261" r:id="rId11"/>
    <p:sldId id="262" r:id="rId12"/>
    <p:sldId id="274" r:id="rId13"/>
    <p:sldId id="263" r:id="rId14"/>
    <p:sldId id="264" r:id="rId15"/>
    <p:sldId id="272" r:id="rId16"/>
    <p:sldId id="265" r:id="rId17"/>
    <p:sldId id="273" r:id="rId18"/>
  </p:sldIdLst>
  <p:sldSz cx="11430000" cy="8788400"/>
  <p:notesSz cx="11430000" cy="878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637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9C9B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C9C9B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311149"/>
            <a:ext cx="10255250" cy="1040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EDEDE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616075"/>
            <a:ext cx="9843135" cy="1364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C9C9BF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4135" y="253"/>
            <a:ext cx="6045865" cy="878814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65809" y="2444114"/>
            <a:ext cx="448183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Gestión</a:t>
            </a:r>
            <a:r>
              <a:rPr spc="-90" dirty="0"/>
              <a:t> </a:t>
            </a:r>
            <a:r>
              <a:rPr spc="60" dirty="0"/>
              <a:t>de</a:t>
            </a:r>
            <a:r>
              <a:rPr spc="-85" dirty="0"/>
              <a:t> </a:t>
            </a:r>
            <a:r>
              <a:rPr spc="50" dirty="0"/>
              <a:t>Pagos</a:t>
            </a:r>
            <a:r>
              <a:rPr spc="-85" dirty="0"/>
              <a:t> </a:t>
            </a:r>
            <a:r>
              <a:rPr spc="-50" dirty="0"/>
              <a:t>— </a:t>
            </a:r>
            <a:r>
              <a:rPr dirty="0"/>
              <a:t>Transportes</a:t>
            </a:r>
            <a:r>
              <a:rPr spc="80" dirty="0"/>
              <a:t> Génesis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5809" y="3880217"/>
            <a:ext cx="4706620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90" dirty="0">
                <a:solidFill>
                  <a:srgbClr val="C9C9BF"/>
                </a:solidFill>
                <a:latin typeface="Tahoma"/>
                <a:cs typeface="Tahoma"/>
              </a:rPr>
              <a:t>Sistema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20" dirty="0">
                <a:solidFill>
                  <a:srgbClr val="C9C9BF"/>
                </a:solidFill>
                <a:latin typeface="Tahoma"/>
                <a:cs typeface="Tahoma"/>
              </a:rPr>
              <a:t>integral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administración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transporte</a:t>
            </a:r>
            <a:r>
              <a:rPr sz="1350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C9C9BF"/>
                </a:solidFill>
                <a:latin typeface="Tahoma"/>
                <a:cs typeface="Tahoma"/>
              </a:rPr>
              <a:t>escolar,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geolocalización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SignalR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y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conciliación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financiera.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7885" y="4873407"/>
            <a:ext cx="1762125" cy="323850"/>
          </a:xfrm>
          <a:custGeom>
            <a:avLst/>
            <a:gdLst/>
            <a:ahLst/>
            <a:cxnLst/>
            <a:rect l="l" t="t" r="r" b="b"/>
            <a:pathLst>
              <a:path w="1762125" h="323850">
                <a:moveTo>
                  <a:pt x="1747253" y="0"/>
                </a:moveTo>
                <a:lnTo>
                  <a:pt x="14872" y="0"/>
                </a:lnTo>
                <a:lnTo>
                  <a:pt x="12684" y="431"/>
                </a:lnTo>
                <a:lnTo>
                  <a:pt x="0" y="14871"/>
                </a:lnTo>
                <a:lnTo>
                  <a:pt x="0" y="306705"/>
                </a:lnTo>
                <a:lnTo>
                  <a:pt x="0" y="308978"/>
                </a:lnTo>
                <a:lnTo>
                  <a:pt x="14872" y="323850"/>
                </a:lnTo>
                <a:lnTo>
                  <a:pt x="1747253" y="323850"/>
                </a:lnTo>
                <a:lnTo>
                  <a:pt x="1762125" y="308978"/>
                </a:lnTo>
                <a:lnTo>
                  <a:pt x="1762125" y="14871"/>
                </a:lnTo>
                <a:lnTo>
                  <a:pt x="1749437" y="431"/>
                </a:lnTo>
                <a:lnTo>
                  <a:pt x="1747253" y="0"/>
                </a:lnTo>
                <a:close/>
              </a:path>
            </a:pathLst>
          </a:custGeom>
          <a:solidFill>
            <a:srgbClr val="2626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80107" y="4880955"/>
            <a:ext cx="2371725" cy="333375"/>
          </a:xfrm>
          <a:custGeom>
            <a:avLst/>
            <a:gdLst/>
            <a:ahLst/>
            <a:cxnLst/>
            <a:rect l="l" t="t" r="r" b="b"/>
            <a:pathLst>
              <a:path w="2371725" h="333375">
                <a:moveTo>
                  <a:pt x="0" y="320992"/>
                </a:moveTo>
                <a:lnTo>
                  <a:pt x="0" y="12382"/>
                </a:lnTo>
                <a:lnTo>
                  <a:pt x="0" y="8966"/>
                </a:lnTo>
                <a:lnTo>
                  <a:pt x="1206" y="6045"/>
                </a:lnTo>
                <a:lnTo>
                  <a:pt x="3632" y="3632"/>
                </a:lnTo>
                <a:lnTo>
                  <a:pt x="6045" y="1206"/>
                </a:lnTo>
                <a:lnTo>
                  <a:pt x="8966" y="0"/>
                </a:lnTo>
                <a:lnTo>
                  <a:pt x="12382" y="0"/>
                </a:lnTo>
                <a:lnTo>
                  <a:pt x="2359342" y="0"/>
                </a:lnTo>
                <a:lnTo>
                  <a:pt x="2362758" y="0"/>
                </a:lnTo>
                <a:lnTo>
                  <a:pt x="2365679" y="1206"/>
                </a:lnTo>
                <a:lnTo>
                  <a:pt x="2368092" y="3632"/>
                </a:lnTo>
                <a:lnTo>
                  <a:pt x="2370518" y="6045"/>
                </a:lnTo>
                <a:lnTo>
                  <a:pt x="2371725" y="8966"/>
                </a:lnTo>
                <a:lnTo>
                  <a:pt x="2371725" y="12382"/>
                </a:lnTo>
                <a:lnTo>
                  <a:pt x="2371725" y="320992"/>
                </a:lnTo>
                <a:lnTo>
                  <a:pt x="2371725" y="324408"/>
                </a:lnTo>
                <a:lnTo>
                  <a:pt x="2370518" y="327329"/>
                </a:lnTo>
                <a:lnTo>
                  <a:pt x="2368092" y="329755"/>
                </a:lnTo>
                <a:lnTo>
                  <a:pt x="2365679" y="332168"/>
                </a:lnTo>
                <a:lnTo>
                  <a:pt x="2362758" y="333375"/>
                </a:lnTo>
                <a:lnTo>
                  <a:pt x="2359342" y="333375"/>
                </a:lnTo>
                <a:lnTo>
                  <a:pt x="12382" y="333375"/>
                </a:lnTo>
                <a:lnTo>
                  <a:pt x="8966" y="333375"/>
                </a:lnTo>
                <a:lnTo>
                  <a:pt x="6045" y="332168"/>
                </a:lnTo>
                <a:lnTo>
                  <a:pt x="3632" y="329742"/>
                </a:lnTo>
                <a:lnTo>
                  <a:pt x="1206" y="327329"/>
                </a:lnTo>
                <a:lnTo>
                  <a:pt x="0" y="324408"/>
                </a:lnTo>
                <a:lnTo>
                  <a:pt x="0" y="320992"/>
                </a:lnTo>
                <a:close/>
              </a:path>
            </a:pathLst>
          </a:custGeom>
          <a:ln w="9525">
            <a:solidFill>
              <a:srgbClr val="E1E1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53196" y="5558483"/>
            <a:ext cx="2676525" cy="333375"/>
          </a:xfrm>
          <a:custGeom>
            <a:avLst/>
            <a:gdLst/>
            <a:ahLst/>
            <a:cxnLst/>
            <a:rect l="l" t="t" r="r" b="b"/>
            <a:pathLst>
              <a:path w="2676525" h="333375">
                <a:moveTo>
                  <a:pt x="0" y="320992"/>
                </a:moveTo>
                <a:lnTo>
                  <a:pt x="0" y="12382"/>
                </a:lnTo>
                <a:lnTo>
                  <a:pt x="0" y="8966"/>
                </a:lnTo>
                <a:lnTo>
                  <a:pt x="1210" y="6045"/>
                </a:lnTo>
                <a:lnTo>
                  <a:pt x="3625" y="3632"/>
                </a:lnTo>
                <a:lnTo>
                  <a:pt x="6042" y="1206"/>
                </a:lnTo>
                <a:lnTo>
                  <a:pt x="8964" y="0"/>
                </a:lnTo>
                <a:lnTo>
                  <a:pt x="12382" y="0"/>
                </a:lnTo>
                <a:lnTo>
                  <a:pt x="2664142" y="0"/>
                </a:lnTo>
                <a:lnTo>
                  <a:pt x="2667558" y="0"/>
                </a:lnTo>
                <a:lnTo>
                  <a:pt x="2670479" y="1206"/>
                </a:lnTo>
                <a:lnTo>
                  <a:pt x="2672892" y="3632"/>
                </a:lnTo>
                <a:lnTo>
                  <a:pt x="2675318" y="6045"/>
                </a:lnTo>
                <a:lnTo>
                  <a:pt x="2676525" y="8966"/>
                </a:lnTo>
                <a:lnTo>
                  <a:pt x="2676525" y="12382"/>
                </a:lnTo>
                <a:lnTo>
                  <a:pt x="2676525" y="320992"/>
                </a:lnTo>
                <a:lnTo>
                  <a:pt x="2676525" y="324408"/>
                </a:lnTo>
                <a:lnTo>
                  <a:pt x="2675318" y="327329"/>
                </a:lnTo>
                <a:lnTo>
                  <a:pt x="2672892" y="329755"/>
                </a:lnTo>
                <a:lnTo>
                  <a:pt x="2670479" y="332168"/>
                </a:lnTo>
                <a:lnTo>
                  <a:pt x="2667558" y="333375"/>
                </a:lnTo>
                <a:lnTo>
                  <a:pt x="2664142" y="333375"/>
                </a:lnTo>
                <a:lnTo>
                  <a:pt x="12382" y="333375"/>
                </a:lnTo>
                <a:lnTo>
                  <a:pt x="8964" y="333375"/>
                </a:lnTo>
                <a:lnTo>
                  <a:pt x="6042" y="332168"/>
                </a:lnTo>
                <a:lnTo>
                  <a:pt x="3625" y="329755"/>
                </a:lnTo>
                <a:lnTo>
                  <a:pt x="1210" y="327329"/>
                </a:lnTo>
                <a:lnTo>
                  <a:pt x="0" y="324408"/>
                </a:lnTo>
                <a:lnTo>
                  <a:pt x="0" y="320992"/>
                </a:lnTo>
                <a:close/>
              </a:path>
            </a:pathLst>
          </a:custGeom>
          <a:ln w="9525">
            <a:solidFill>
              <a:srgbClr val="E1E1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7982" y="4940937"/>
            <a:ext cx="15773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60" dirty="0">
                <a:solidFill>
                  <a:srgbClr val="C9C9BF"/>
                </a:solidFill>
                <a:latin typeface="Tahoma"/>
                <a:cs typeface="Tahoma"/>
              </a:rPr>
              <a:t>UNIVERSIDAD</a:t>
            </a:r>
            <a:r>
              <a:rPr sz="1050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050" spc="45" dirty="0">
                <a:solidFill>
                  <a:srgbClr val="C9C9BF"/>
                </a:solidFill>
                <a:latin typeface="Tahoma"/>
                <a:cs typeface="Tahoma"/>
              </a:rPr>
              <a:t>GALILEO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07" y="4952393"/>
            <a:ext cx="218630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45" dirty="0">
                <a:solidFill>
                  <a:srgbClr val="E1E1DF"/>
                </a:solidFill>
                <a:latin typeface="Tahoma"/>
                <a:cs typeface="Tahoma"/>
              </a:rPr>
              <a:t>PROPUESTA</a:t>
            </a:r>
            <a:r>
              <a:rPr sz="1050" spc="-80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60" dirty="0">
                <a:solidFill>
                  <a:srgbClr val="E1E1DF"/>
                </a:solidFill>
                <a:latin typeface="Tahoma"/>
                <a:cs typeface="Tahoma"/>
              </a:rPr>
              <a:t>DE</a:t>
            </a:r>
            <a:r>
              <a:rPr sz="1050" spc="-7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60" dirty="0">
                <a:solidFill>
                  <a:srgbClr val="E1E1DF"/>
                </a:solidFill>
                <a:latin typeface="Tahoma"/>
                <a:cs typeface="Tahoma"/>
              </a:rPr>
              <a:t>INGENIERÍA</a:t>
            </a:r>
            <a:r>
              <a:rPr sz="1050" spc="-7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35" dirty="0">
                <a:solidFill>
                  <a:srgbClr val="E1E1DF"/>
                </a:solidFill>
                <a:latin typeface="Tahoma"/>
                <a:cs typeface="Tahoma"/>
              </a:rPr>
              <a:t>V4.0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8763" y="5629920"/>
            <a:ext cx="248539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0" dirty="0">
                <a:solidFill>
                  <a:srgbClr val="E1E1DF"/>
                </a:solidFill>
                <a:latin typeface="Tahoma"/>
                <a:cs typeface="Tahoma"/>
              </a:rPr>
              <a:t>TARIFA</a:t>
            </a:r>
            <a:r>
              <a:rPr sz="1050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60" dirty="0">
                <a:solidFill>
                  <a:srgbClr val="E1E1DF"/>
                </a:solidFill>
                <a:latin typeface="Tahoma"/>
                <a:cs typeface="Tahoma"/>
              </a:rPr>
              <a:t>DE</a:t>
            </a:r>
            <a:r>
              <a:rPr sz="1050" spc="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20" dirty="0">
                <a:solidFill>
                  <a:srgbClr val="E1E1DF"/>
                </a:solidFill>
                <a:latin typeface="Tahoma"/>
                <a:cs typeface="Tahoma"/>
              </a:rPr>
              <a:t>CONSULTORÍA</a:t>
            </a:r>
            <a:r>
              <a:rPr sz="1050" spc="5" dirty="0">
                <a:solidFill>
                  <a:srgbClr val="E1E1DF"/>
                </a:solidFill>
                <a:latin typeface="Tahoma"/>
                <a:cs typeface="Tahoma"/>
              </a:rPr>
              <a:t> </a:t>
            </a:r>
            <a:r>
              <a:rPr sz="1050" spc="40" dirty="0">
                <a:solidFill>
                  <a:srgbClr val="E1E1DF"/>
                </a:solidFill>
                <a:latin typeface="Tahoma"/>
                <a:cs typeface="Tahoma"/>
              </a:rPr>
              <a:t>INTEGRADA</a:t>
            </a:r>
            <a:endParaRPr sz="10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>
            <a:extLst>
              <a:ext uri="{FF2B5EF4-FFF2-40B4-BE49-F238E27FC236}">
                <a16:creationId xmlns:a16="http://schemas.microsoft.com/office/drawing/2014/main" id="{0C2CD5FA-A4F0-43A3-D618-EE65528DC5B4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07029" y="2025650"/>
            <a:ext cx="544449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ECECE7"/>
                </a:solidFill>
              </a:rPr>
              <a:t>Problemática</a:t>
            </a:r>
            <a:r>
              <a:rPr spc="80" dirty="0">
                <a:solidFill>
                  <a:srgbClr val="ECECE7"/>
                </a:solidFill>
              </a:rPr>
              <a:t> </a:t>
            </a:r>
            <a:r>
              <a:rPr spc="170" dirty="0">
                <a:solidFill>
                  <a:srgbClr val="ECECE7"/>
                </a:solidFill>
              </a:rPr>
              <a:t>y</a:t>
            </a:r>
            <a:r>
              <a:rPr spc="85" dirty="0">
                <a:solidFill>
                  <a:srgbClr val="ECECE7"/>
                </a:solidFill>
              </a:rPr>
              <a:t> </a:t>
            </a:r>
            <a:r>
              <a:rPr spc="-10" dirty="0">
                <a:solidFill>
                  <a:srgbClr val="ECECE7"/>
                </a:solidFill>
              </a:rPr>
              <a:t>Objetivos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6249" y="2809874"/>
            <a:ext cx="5153025" cy="1609725"/>
            <a:chOff x="476249" y="2809874"/>
            <a:chExt cx="5153025" cy="1609725"/>
          </a:xfrm>
        </p:grpSpPr>
        <p:sp>
          <p:nvSpPr>
            <p:cNvPr id="4" name="object 4"/>
            <p:cNvSpPr/>
            <p:nvPr/>
          </p:nvSpPr>
          <p:spPr>
            <a:xfrm>
              <a:off x="476249" y="2809874"/>
              <a:ext cx="5153025" cy="1609725"/>
            </a:xfrm>
            <a:custGeom>
              <a:avLst/>
              <a:gdLst/>
              <a:ahLst/>
              <a:cxnLst/>
              <a:rect l="l" t="t" r="r" b="b"/>
              <a:pathLst>
                <a:path w="5153025" h="1609725">
                  <a:moveTo>
                    <a:pt x="5134435" y="1609724"/>
                  </a:moveTo>
                  <a:lnTo>
                    <a:pt x="18589" y="1609724"/>
                  </a:lnTo>
                  <a:lnTo>
                    <a:pt x="15855" y="1609180"/>
                  </a:lnTo>
                  <a:lnTo>
                    <a:pt x="0" y="1591135"/>
                  </a:lnTo>
                  <a:lnTo>
                    <a:pt x="0" y="158829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5134435" y="0"/>
                  </a:lnTo>
                  <a:lnTo>
                    <a:pt x="5153024" y="18589"/>
                  </a:lnTo>
                  <a:lnTo>
                    <a:pt x="5153024" y="1591135"/>
                  </a:lnTo>
                  <a:lnTo>
                    <a:pt x="5137168" y="1609180"/>
                  </a:lnTo>
                  <a:lnTo>
                    <a:pt x="5134435" y="1609724"/>
                  </a:lnTo>
                  <a:close/>
                </a:path>
              </a:pathLst>
            </a:custGeom>
            <a:solidFill>
              <a:srgbClr val="1F1F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6262" y="3533774"/>
              <a:ext cx="57150" cy="723900"/>
            </a:xfrm>
            <a:custGeom>
              <a:avLst/>
              <a:gdLst/>
              <a:ahLst/>
              <a:cxnLst/>
              <a:rect l="l" t="t" r="r" b="b"/>
              <a:pathLst>
                <a:path w="57150" h="723900">
                  <a:moveTo>
                    <a:pt x="57150" y="691540"/>
                  </a:moveTo>
                  <a:lnTo>
                    <a:pt x="32372" y="666750"/>
                  </a:lnTo>
                  <a:lnTo>
                    <a:pt x="24790" y="666750"/>
                  </a:lnTo>
                  <a:lnTo>
                    <a:pt x="0" y="691540"/>
                  </a:lnTo>
                  <a:lnTo>
                    <a:pt x="0" y="699122"/>
                  </a:lnTo>
                  <a:lnTo>
                    <a:pt x="24790" y="723900"/>
                  </a:lnTo>
                  <a:lnTo>
                    <a:pt x="32372" y="723900"/>
                  </a:lnTo>
                  <a:lnTo>
                    <a:pt x="57150" y="699122"/>
                  </a:lnTo>
                  <a:lnTo>
                    <a:pt x="57150" y="695325"/>
                  </a:lnTo>
                  <a:lnTo>
                    <a:pt x="57150" y="691540"/>
                  </a:lnTo>
                  <a:close/>
                </a:path>
                <a:path w="57150" h="723900">
                  <a:moveTo>
                    <a:pt x="57150" y="358165"/>
                  </a:moveTo>
                  <a:lnTo>
                    <a:pt x="32372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47"/>
                  </a:lnTo>
                  <a:lnTo>
                    <a:pt x="24790" y="390525"/>
                  </a:lnTo>
                  <a:lnTo>
                    <a:pt x="32372" y="390525"/>
                  </a:lnTo>
                  <a:lnTo>
                    <a:pt x="57150" y="365747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723900">
                  <a:moveTo>
                    <a:pt x="57150" y="24790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72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72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C8C8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76262" y="2973387"/>
            <a:ext cx="4764405" cy="136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Desafíos</a:t>
            </a:r>
            <a:r>
              <a:rPr sz="1650" b="1" spc="21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CECE7"/>
                </a:solidFill>
                <a:latin typeface="Tahoma"/>
                <a:cs typeface="Tahoma"/>
              </a:rPr>
              <a:t>Actuales</a:t>
            </a:r>
            <a:endParaRPr sz="1650" dirty="0">
              <a:latin typeface="Tahoma"/>
              <a:cs typeface="Tahoma"/>
            </a:endParaRPr>
          </a:p>
          <a:p>
            <a:pPr marL="286385" marR="685165">
              <a:lnSpc>
                <a:spcPct val="162000"/>
              </a:lnSpc>
              <a:spcBef>
                <a:spcPts val="615"/>
              </a:spcBef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Planificación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8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rutas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«a</a:t>
            </a:r>
            <a:r>
              <a:rPr sz="1350" spc="-8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ojo»</a:t>
            </a:r>
            <a:r>
              <a:rPr sz="1350" spc="-8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sin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optimización.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Falta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trazabilidad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los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alumnos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ruta.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Desorganización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control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cobros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vía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WhatsApp.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62649" y="3533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962649" y="38671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2649" y="4200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920928" y="2973387"/>
            <a:ext cx="4811395" cy="136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Solución</a:t>
            </a:r>
            <a:r>
              <a:rPr sz="1650" b="1" spc="-8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CECE7"/>
                </a:solidFill>
                <a:latin typeface="Tahoma"/>
                <a:cs typeface="Tahoma"/>
              </a:rPr>
              <a:t>Génesis</a:t>
            </a:r>
            <a:endParaRPr sz="1650" dirty="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  <a:spcBef>
                <a:spcPts val="615"/>
              </a:spcBef>
            </a:pPr>
            <a:r>
              <a:rPr sz="1350" spc="20" dirty="0">
                <a:solidFill>
                  <a:srgbClr val="C8C8BF"/>
                </a:solidFill>
                <a:latin typeface="Tahoma"/>
                <a:cs typeface="Tahoma"/>
              </a:rPr>
              <a:t>Digitalizar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operaciones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plataforma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C8C8BF"/>
                </a:solidFill>
                <a:latin typeface="Tahoma"/>
                <a:cs typeface="Tahoma"/>
              </a:rPr>
              <a:t>centralizada.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Garantizar</a:t>
            </a:r>
            <a:r>
              <a:rPr sz="1350" spc="-8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visibilidad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24/7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la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ubicación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del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bus.</a:t>
            </a:r>
            <a:endParaRPr sz="1350" dirty="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Automatizar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registro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validación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cobros.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2862327"/>
            <a:ext cx="45662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90" dirty="0">
                <a:solidFill>
                  <a:srgbClr val="ECECE7"/>
                </a:solidFill>
              </a:rPr>
              <a:t>Alcance</a:t>
            </a:r>
            <a:r>
              <a:rPr spc="-175" dirty="0">
                <a:solidFill>
                  <a:srgbClr val="ECECE7"/>
                </a:solidFill>
              </a:rPr>
              <a:t> </a:t>
            </a:r>
            <a:r>
              <a:rPr spc="-25" dirty="0">
                <a:solidFill>
                  <a:srgbClr val="ECECE7"/>
                </a:solidFill>
              </a:rPr>
              <a:t>Integral</a:t>
            </a:r>
            <a:r>
              <a:rPr spc="-175" dirty="0">
                <a:solidFill>
                  <a:srgbClr val="ECECE7"/>
                </a:solidFill>
              </a:rPr>
              <a:t> </a:t>
            </a:r>
            <a:r>
              <a:rPr spc="-60" dirty="0">
                <a:solidFill>
                  <a:srgbClr val="ECECE7"/>
                </a:solidFill>
              </a:rPr>
              <a:t>v1.0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645" y="3734281"/>
            <a:ext cx="357293" cy="35754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8200" y="4295839"/>
            <a:ext cx="313245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35" dirty="0">
                <a:solidFill>
                  <a:srgbClr val="C8C8BF"/>
                </a:solidFill>
                <a:latin typeface="Tahoma"/>
                <a:cs typeface="Tahoma"/>
              </a:rPr>
              <a:t>Seguridad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Gestión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roles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ASP.NET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Identity: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Admin,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Piloto,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Monitor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Padre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de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Familia.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9177" y="3734207"/>
            <a:ext cx="238646" cy="3580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19588" y="4295839"/>
            <a:ext cx="3215005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C8C8BF"/>
                </a:solidFill>
                <a:latin typeface="Tahoma"/>
                <a:cs typeface="Tahoma"/>
              </a:rPr>
              <a:t>Geolocalización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spc="10" dirty="0">
                <a:solidFill>
                  <a:srgbClr val="C8C8BF"/>
                </a:solidFill>
                <a:latin typeface="Tahoma"/>
                <a:cs typeface="Tahoma"/>
              </a:rPr>
              <a:t>Tracking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tiempo</a:t>
            </a:r>
            <a:r>
              <a:rPr sz="1350" spc="-5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10" dirty="0">
                <a:solidFill>
                  <a:srgbClr val="C8C8BF"/>
                </a:solidFill>
                <a:latin typeface="Tahoma"/>
                <a:cs typeface="Tahoma"/>
              </a:rPr>
              <a:t>real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vía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SignalR</a:t>
            </a:r>
            <a:r>
              <a:rPr sz="1350" spc="-5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con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transmisión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coordenadas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 err="1">
                <a:solidFill>
                  <a:srgbClr val="C8C8BF"/>
                </a:solidFill>
                <a:latin typeface="Tahoma"/>
                <a:cs typeface="Tahoma"/>
              </a:rPr>
              <a:t>cada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lang="es-GT" sz="1350" spc="-25" dirty="0">
                <a:solidFill>
                  <a:srgbClr val="C8C8BF"/>
                </a:solidFill>
                <a:latin typeface="Tahoma"/>
                <a:cs typeface="Tahoma"/>
              </a:rPr>
              <a:t>10</a:t>
            </a:r>
            <a:r>
              <a:rPr sz="1350" spc="-2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segundos.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13675" y="3790912"/>
            <a:ext cx="342900" cy="245110"/>
          </a:xfrm>
          <a:custGeom>
            <a:avLst/>
            <a:gdLst/>
            <a:ahLst/>
            <a:cxnLst/>
            <a:rect l="l" t="t" r="r" b="b"/>
            <a:pathLst>
              <a:path w="342900" h="245110">
                <a:moveTo>
                  <a:pt x="231901" y="197348"/>
                </a:moveTo>
                <a:lnTo>
                  <a:pt x="235347" y="198799"/>
                </a:lnTo>
                <a:lnTo>
                  <a:pt x="239607" y="199742"/>
                </a:lnTo>
                <a:lnTo>
                  <a:pt x="257146" y="199906"/>
                </a:lnTo>
              </a:path>
              <a:path w="342900" h="245110">
                <a:moveTo>
                  <a:pt x="283924" y="199827"/>
                </a:moveTo>
                <a:lnTo>
                  <a:pt x="289458" y="199391"/>
                </a:lnTo>
                <a:lnTo>
                  <a:pt x="291860" y="198843"/>
                </a:lnTo>
                <a:lnTo>
                  <a:pt x="294021" y="198016"/>
                </a:lnTo>
              </a:path>
              <a:path w="342900" h="245110">
                <a:moveTo>
                  <a:pt x="27" y="200163"/>
                </a:moveTo>
                <a:lnTo>
                  <a:pt x="14642" y="236175"/>
                </a:lnTo>
                <a:lnTo>
                  <a:pt x="44045" y="244582"/>
                </a:lnTo>
                <a:lnTo>
                  <a:pt x="55261" y="244674"/>
                </a:lnTo>
              </a:path>
              <a:path w="342900" h="245110">
                <a:moveTo>
                  <a:pt x="299970" y="244678"/>
                </a:moveTo>
                <a:lnTo>
                  <a:pt x="335071" y="228795"/>
                </a:lnTo>
                <a:lnTo>
                  <a:pt x="342815" y="194521"/>
                </a:lnTo>
                <a:lnTo>
                  <a:pt x="342899" y="186608"/>
                </a:lnTo>
              </a:path>
              <a:path w="342900" h="245110">
                <a:moveTo>
                  <a:pt x="342884" y="44267"/>
                </a:moveTo>
                <a:lnTo>
                  <a:pt x="327381" y="8151"/>
                </a:lnTo>
                <a:lnTo>
                  <a:pt x="291640" y="76"/>
                </a:lnTo>
                <a:lnTo>
                  <a:pt x="283041" y="0"/>
                </a:lnTo>
              </a:path>
              <a:path w="342900" h="245110">
                <a:moveTo>
                  <a:pt x="45980" y="1"/>
                </a:moveTo>
                <a:lnTo>
                  <a:pt x="9299" y="13383"/>
                </a:lnTo>
                <a:lnTo>
                  <a:pt x="20" y="42851"/>
                </a:lnTo>
                <a:lnTo>
                  <a:pt x="27" y="53485"/>
                </a:lnTo>
              </a:path>
              <a:path w="342900" h="245110">
                <a:moveTo>
                  <a:pt x="342884" y="107270"/>
                </a:moveTo>
                <a:lnTo>
                  <a:pt x="37" y="107688"/>
                </a:lnTo>
              </a:path>
              <a:path w="342900" h="245110">
                <a:moveTo>
                  <a:pt x="0" y="110334"/>
                </a:moveTo>
                <a:lnTo>
                  <a:pt x="27" y="200163"/>
                </a:lnTo>
              </a:path>
              <a:path w="342900" h="245110">
                <a:moveTo>
                  <a:pt x="342885" y="57026"/>
                </a:moveTo>
                <a:lnTo>
                  <a:pt x="36" y="57063"/>
                </a:lnTo>
              </a:path>
              <a:path w="342900" h="245110">
                <a:moveTo>
                  <a:pt x="232765" y="142860"/>
                </a:moveTo>
                <a:lnTo>
                  <a:pt x="294543" y="142740"/>
                </a:lnTo>
              </a:path>
              <a:path w="342900" h="245110">
                <a:moveTo>
                  <a:pt x="232765" y="142860"/>
                </a:moveTo>
                <a:lnTo>
                  <a:pt x="232298" y="143086"/>
                </a:lnTo>
                <a:lnTo>
                  <a:pt x="231786" y="143396"/>
                </a:lnTo>
                <a:lnTo>
                  <a:pt x="231230" y="143788"/>
                </a:lnTo>
              </a:path>
              <a:path w="342900" h="245110">
                <a:moveTo>
                  <a:pt x="231231" y="143789"/>
                </a:moveTo>
                <a:lnTo>
                  <a:pt x="229769" y="144881"/>
                </a:lnTo>
                <a:lnTo>
                  <a:pt x="228609" y="146231"/>
                </a:lnTo>
                <a:lnTo>
                  <a:pt x="227752" y="147842"/>
                </a:lnTo>
              </a:path>
              <a:path w="342900" h="245110">
                <a:moveTo>
                  <a:pt x="227754" y="147843"/>
                </a:moveTo>
                <a:lnTo>
                  <a:pt x="227640" y="192284"/>
                </a:lnTo>
                <a:lnTo>
                  <a:pt x="227930" y="192916"/>
                </a:lnTo>
                <a:lnTo>
                  <a:pt x="228262" y="193525"/>
                </a:lnTo>
                <a:lnTo>
                  <a:pt x="228635" y="194112"/>
                </a:lnTo>
              </a:path>
              <a:path w="342900" h="245110">
                <a:moveTo>
                  <a:pt x="228636" y="194111"/>
                </a:moveTo>
                <a:lnTo>
                  <a:pt x="229324" y="195124"/>
                </a:lnTo>
                <a:lnTo>
                  <a:pt x="230143" y="196016"/>
                </a:lnTo>
                <a:lnTo>
                  <a:pt x="231094" y="196788"/>
                </a:lnTo>
              </a:path>
              <a:path w="342900" h="245110">
                <a:moveTo>
                  <a:pt x="231095" y="196787"/>
                </a:moveTo>
                <a:lnTo>
                  <a:pt x="231901" y="197348"/>
                </a:lnTo>
              </a:path>
              <a:path w="342900" h="245110">
                <a:moveTo>
                  <a:pt x="294021" y="198016"/>
                </a:moveTo>
                <a:lnTo>
                  <a:pt x="299559" y="191475"/>
                </a:lnTo>
                <a:lnTo>
                  <a:pt x="299490" y="149044"/>
                </a:lnTo>
                <a:lnTo>
                  <a:pt x="299103" y="148168"/>
                </a:lnTo>
                <a:lnTo>
                  <a:pt x="298760" y="147524"/>
                </a:lnTo>
                <a:lnTo>
                  <a:pt x="298378" y="146906"/>
                </a:lnTo>
                <a:lnTo>
                  <a:pt x="297956" y="146312"/>
                </a:lnTo>
                <a:lnTo>
                  <a:pt x="294543" y="142740"/>
                </a:lnTo>
              </a:path>
              <a:path w="342900" h="245110">
                <a:moveTo>
                  <a:pt x="46421" y="184362"/>
                </a:moveTo>
                <a:lnTo>
                  <a:pt x="140880" y="184342"/>
                </a:lnTo>
              </a:path>
              <a:path w="342900" h="245110">
                <a:moveTo>
                  <a:pt x="257146" y="199906"/>
                </a:moveTo>
                <a:lnTo>
                  <a:pt x="283924" y="199827"/>
                </a:lnTo>
              </a:path>
              <a:path w="342900" h="245110">
                <a:moveTo>
                  <a:pt x="55261" y="244674"/>
                </a:moveTo>
                <a:lnTo>
                  <a:pt x="299970" y="244678"/>
                </a:lnTo>
              </a:path>
              <a:path w="342900" h="245110">
                <a:moveTo>
                  <a:pt x="342899" y="186608"/>
                </a:moveTo>
                <a:lnTo>
                  <a:pt x="342884" y="44267"/>
                </a:lnTo>
              </a:path>
              <a:path w="342900" h="245110">
                <a:moveTo>
                  <a:pt x="283041" y="0"/>
                </a:moveTo>
                <a:lnTo>
                  <a:pt x="45980" y="1"/>
                </a:lnTo>
              </a:path>
              <a:path w="342900" h="245110">
                <a:moveTo>
                  <a:pt x="27" y="53485"/>
                </a:moveTo>
                <a:lnTo>
                  <a:pt x="0" y="110334"/>
                </a:lnTo>
              </a:path>
            </a:pathLst>
          </a:custGeom>
          <a:ln w="15188">
            <a:solidFill>
              <a:srgbClr val="E1E1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00976" y="4295839"/>
            <a:ext cx="303403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C8C8BF"/>
                </a:solidFill>
                <a:latin typeface="Tahoma"/>
                <a:cs typeface="Tahoma"/>
              </a:rPr>
              <a:t>Finanzas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Portal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pagos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carga</a:t>
            </a:r>
            <a:r>
              <a:rPr sz="1350" spc="-6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de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comprobantes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digitales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estados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de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cuenta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automáticos.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21D4-451A-0CC4-5DF6-08B96F74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BD08F5-2BF0-197B-7693-8CC70CBAF9A3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75BFF4F0-140D-C0E5-5036-69C3B73988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1603" y="1069733"/>
            <a:ext cx="9996806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9EF0936-DF3D-6826-54D6-4B5CF67061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944" y="1156738"/>
            <a:ext cx="357293" cy="357546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3D5075D-BE16-F56D-501F-36DFF8D930FF}"/>
              </a:ext>
            </a:extLst>
          </p:cNvPr>
          <p:cNvSpPr txBox="1"/>
          <p:nvPr/>
        </p:nvSpPr>
        <p:spPr>
          <a:xfrm>
            <a:off x="1508938" y="2111246"/>
            <a:ext cx="6492062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1: Arquitectura general del sistema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BEE12E9-F4A1-C5F9-5631-8E768C0E3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93950"/>
            <a:ext cx="97536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B903-2EB0-62CA-EFD3-4FFE9913E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FD202F-5D34-A97C-BAE0-BDEB8B1686D9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354EDB1A-FC22-10C3-B98D-01A9131934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1603" y="1069733"/>
            <a:ext cx="3261801" cy="15626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C7442E2-C414-2732-2FC1-12B48A8070BD}"/>
              </a:ext>
            </a:extLst>
          </p:cNvPr>
          <p:cNvSpPr txBox="1"/>
          <p:nvPr/>
        </p:nvSpPr>
        <p:spPr>
          <a:xfrm>
            <a:off x="304127" y="3163011"/>
            <a:ext cx="3965161" cy="5251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2: Flujos de pagos y conciliación</a:t>
            </a:r>
            <a:endParaRPr sz="1650" dirty="0">
              <a:latin typeface="Tahoma"/>
              <a:cs typeface="Tahoma"/>
            </a:endParaRPr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69220786-9664-E9A2-2C82-91DB812F217B}"/>
              </a:ext>
            </a:extLst>
          </p:cNvPr>
          <p:cNvSpPr/>
          <p:nvPr/>
        </p:nvSpPr>
        <p:spPr>
          <a:xfrm>
            <a:off x="390141" y="1212956"/>
            <a:ext cx="342900" cy="245110"/>
          </a:xfrm>
          <a:custGeom>
            <a:avLst/>
            <a:gdLst/>
            <a:ahLst/>
            <a:cxnLst/>
            <a:rect l="l" t="t" r="r" b="b"/>
            <a:pathLst>
              <a:path w="342900" h="245110">
                <a:moveTo>
                  <a:pt x="231901" y="197348"/>
                </a:moveTo>
                <a:lnTo>
                  <a:pt x="235347" y="198799"/>
                </a:lnTo>
                <a:lnTo>
                  <a:pt x="239607" y="199742"/>
                </a:lnTo>
                <a:lnTo>
                  <a:pt x="257146" y="199906"/>
                </a:lnTo>
              </a:path>
              <a:path w="342900" h="245110">
                <a:moveTo>
                  <a:pt x="283924" y="199827"/>
                </a:moveTo>
                <a:lnTo>
                  <a:pt x="289458" y="199391"/>
                </a:lnTo>
                <a:lnTo>
                  <a:pt x="291860" y="198843"/>
                </a:lnTo>
                <a:lnTo>
                  <a:pt x="294021" y="198016"/>
                </a:lnTo>
              </a:path>
              <a:path w="342900" h="245110">
                <a:moveTo>
                  <a:pt x="27" y="200163"/>
                </a:moveTo>
                <a:lnTo>
                  <a:pt x="14642" y="236175"/>
                </a:lnTo>
                <a:lnTo>
                  <a:pt x="44045" y="244582"/>
                </a:lnTo>
                <a:lnTo>
                  <a:pt x="55261" y="244674"/>
                </a:lnTo>
              </a:path>
              <a:path w="342900" h="245110">
                <a:moveTo>
                  <a:pt x="299970" y="244678"/>
                </a:moveTo>
                <a:lnTo>
                  <a:pt x="335071" y="228795"/>
                </a:lnTo>
                <a:lnTo>
                  <a:pt x="342815" y="194521"/>
                </a:lnTo>
                <a:lnTo>
                  <a:pt x="342899" y="186608"/>
                </a:lnTo>
              </a:path>
              <a:path w="342900" h="245110">
                <a:moveTo>
                  <a:pt x="342884" y="44267"/>
                </a:moveTo>
                <a:lnTo>
                  <a:pt x="327381" y="8151"/>
                </a:lnTo>
                <a:lnTo>
                  <a:pt x="291640" y="76"/>
                </a:lnTo>
                <a:lnTo>
                  <a:pt x="283041" y="0"/>
                </a:lnTo>
              </a:path>
              <a:path w="342900" h="245110">
                <a:moveTo>
                  <a:pt x="45980" y="1"/>
                </a:moveTo>
                <a:lnTo>
                  <a:pt x="9299" y="13383"/>
                </a:lnTo>
                <a:lnTo>
                  <a:pt x="20" y="42851"/>
                </a:lnTo>
                <a:lnTo>
                  <a:pt x="27" y="53485"/>
                </a:lnTo>
              </a:path>
              <a:path w="342900" h="245110">
                <a:moveTo>
                  <a:pt x="342884" y="107270"/>
                </a:moveTo>
                <a:lnTo>
                  <a:pt x="37" y="107688"/>
                </a:lnTo>
              </a:path>
              <a:path w="342900" h="245110">
                <a:moveTo>
                  <a:pt x="0" y="110334"/>
                </a:moveTo>
                <a:lnTo>
                  <a:pt x="27" y="200163"/>
                </a:lnTo>
              </a:path>
              <a:path w="342900" h="245110">
                <a:moveTo>
                  <a:pt x="342885" y="57026"/>
                </a:moveTo>
                <a:lnTo>
                  <a:pt x="36" y="57063"/>
                </a:lnTo>
              </a:path>
              <a:path w="342900" h="245110">
                <a:moveTo>
                  <a:pt x="232765" y="142860"/>
                </a:moveTo>
                <a:lnTo>
                  <a:pt x="294543" y="142740"/>
                </a:lnTo>
              </a:path>
              <a:path w="342900" h="245110">
                <a:moveTo>
                  <a:pt x="232765" y="142860"/>
                </a:moveTo>
                <a:lnTo>
                  <a:pt x="232298" y="143086"/>
                </a:lnTo>
                <a:lnTo>
                  <a:pt x="231786" y="143396"/>
                </a:lnTo>
                <a:lnTo>
                  <a:pt x="231230" y="143788"/>
                </a:lnTo>
              </a:path>
              <a:path w="342900" h="245110">
                <a:moveTo>
                  <a:pt x="231231" y="143789"/>
                </a:moveTo>
                <a:lnTo>
                  <a:pt x="229769" y="144881"/>
                </a:lnTo>
                <a:lnTo>
                  <a:pt x="228609" y="146231"/>
                </a:lnTo>
                <a:lnTo>
                  <a:pt x="227752" y="147842"/>
                </a:lnTo>
              </a:path>
              <a:path w="342900" h="245110">
                <a:moveTo>
                  <a:pt x="227754" y="147843"/>
                </a:moveTo>
                <a:lnTo>
                  <a:pt x="227640" y="192284"/>
                </a:lnTo>
                <a:lnTo>
                  <a:pt x="227930" y="192916"/>
                </a:lnTo>
                <a:lnTo>
                  <a:pt x="228262" y="193525"/>
                </a:lnTo>
                <a:lnTo>
                  <a:pt x="228635" y="194112"/>
                </a:lnTo>
              </a:path>
              <a:path w="342900" h="245110">
                <a:moveTo>
                  <a:pt x="228636" y="194111"/>
                </a:moveTo>
                <a:lnTo>
                  <a:pt x="229324" y="195124"/>
                </a:lnTo>
                <a:lnTo>
                  <a:pt x="230143" y="196016"/>
                </a:lnTo>
                <a:lnTo>
                  <a:pt x="231094" y="196788"/>
                </a:lnTo>
              </a:path>
              <a:path w="342900" h="245110">
                <a:moveTo>
                  <a:pt x="231095" y="196787"/>
                </a:moveTo>
                <a:lnTo>
                  <a:pt x="231901" y="197348"/>
                </a:lnTo>
              </a:path>
              <a:path w="342900" h="245110">
                <a:moveTo>
                  <a:pt x="294021" y="198016"/>
                </a:moveTo>
                <a:lnTo>
                  <a:pt x="299559" y="191475"/>
                </a:lnTo>
                <a:lnTo>
                  <a:pt x="299490" y="149044"/>
                </a:lnTo>
                <a:lnTo>
                  <a:pt x="299103" y="148168"/>
                </a:lnTo>
                <a:lnTo>
                  <a:pt x="298760" y="147524"/>
                </a:lnTo>
                <a:lnTo>
                  <a:pt x="298378" y="146906"/>
                </a:lnTo>
                <a:lnTo>
                  <a:pt x="297956" y="146312"/>
                </a:lnTo>
                <a:lnTo>
                  <a:pt x="294543" y="142740"/>
                </a:lnTo>
              </a:path>
              <a:path w="342900" h="245110">
                <a:moveTo>
                  <a:pt x="46421" y="184362"/>
                </a:moveTo>
                <a:lnTo>
                  <a:pt x="140880" y="184342"/>
                </a:lnTo>
              </a:path>
              <a:path w="342900" h="245110">
                <a:moveTo>
                  <a:pt x="257146" y="199906"/>
                </a:moveTo>
                <a:lnTo>
                  <a:pt x="283924" y="199827"/>
                </a:lnTo>
              </a:path>
              <a:path w="342900" h="245110">
                <a:moveTo>
                  <a:pt x="55261" y="244674"/>
                </a:moveTo>
                <a:lnTo>
                  <a:pt x="299970" y="244678"/>
                </a:lnTo>
              </a:path>
              <a:path w="342900" h="245110">
                <a:moveTo>
                  <a:pt x="342899" y="186608"/>
                </a:moveTo>
                <a:lnTo>
                  <a:pt x="342884" y="44267"/>
                </a:lnTo>
              </a:path>
              <a:path w="342900" h="245110">
                <a:moveTo>
                  <a:pt x="283041" y="0"/>
                </a:moveTo>
                <a:lnTo>
                  <a:pt x="45980" y="1"/>
                </a:lnTo>
              </a:path>
              <a:path w="342900" h="245110">
                <a:moveTo>
                  <a:pt x="27" y="53485"/>
                </a:moveTo>
                <a:lnTo>
                  <a:pt x="0" y="110334"/>
                </a:lnTo>
              </a:path>
            </a:pathLst>
          </a:custGeom>
          <a:ln w="15188">
            <a:solidFill>
              <a:srgbClr val="E1E1D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35E674C-B0EC-900E-63C7-25B9DCBAE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545" y="0"/>
            <a:ext cx="7029004" cy="878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79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C14B-B246-F4F4-322A-32663A6C1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812CC9E-F600-A482-32C9-4867D0AEBDE1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FFF7B5F3-4851-D0A1-A13B-5B087394C8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1603" y="1069733"/>
            <a:ext cx="9996806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56C81C9-E323-6A8D-75DC-287CD4E7668E}"/>
              </a:ext>
            </a:extLst>
          </p:cNvPr>
          <p:cNvSpPr txBox="1"/>
          <p:nvPr/>
        </p:nvSpPr>
        <p:spPr>
          <a:xfrm>
            <a:off x="1508938" y="2111246"/>
            <a:ext cx="6492062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3: Geolocalización en tiempo real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B177346-ABE7-7645-EF89-4BA55EB9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56" y="2692595"/>
            <a:ext cx="9753600" cy="5324475"/>
          </a:xfrm>
          <a:prstGeom prst="rect">
            <a:avLst/>
          </a:prstGeom>
        </p:spPr>
      </p:pic>
      <p:pic>
        <p:nvPicPr>
          <p:cNvPr id="11" name="object 6">
            <a:extLst>
              <a:ext uri="{FF2B5EF4-FFF2-40B4-BE49-F238E27FC236}">
                <a16:creationId xmlns:a16="http://schemas.microsoft.com/office/drawing/2014/main" id="{98B4AE7C-403F-9BD6-C4D6-DB5DAA7760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268" y="1156466"/>
            <a:ext cx="238646" cy="35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76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2113-9B10-44F9-F7BB-6483E32C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2E8D93-7673-E2F2-BB34-BC1954CE44D8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2036CF6C-5B6E-984D-431F-7689D5B3A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069733"/>
            <a:ext cx="9996806" cy="5315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spc="90" dirty="0">
                <a:solidFill>
                  <a:srgbClr val="ECECE7"/>
                </a:solidFill>
              </a:rPr>
              <a:t>Diagramas principales del sistema</a:t>
            </a:r>
            <a:endParaRPr spc="-60" dirty="0">
              <a:solidFill>
                <a:srgbClr val="ECECE7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7013561-4C98-B912-5A3F-1C2388AA3902}"/>
              </a:ext>
            </a:extLst>
          </p:cNvPr>
          <p:cNvSpPr txBox="1"/>
          <p:nvPr/>
        </p:nvSpPr>
        <p:spPr>
          <a:xfrm>
            <a:off x="1508938" y="2111246"/>
            <a:ext cx="6492062" cy="27122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35" dirty="0">
                <a:solidFill>
                  <a:srgbClr val="C8C8BF"/>
                </a:solidFill>
                <a:latin typeface="Tahoma"/>
                <a:cs typeface="Tahoma"/>
              </a:rPr>
              <a:t>Diagrama 4: entidad relación </a:t>
            </a:r>
            <a:endParaRPr sz="1650" dirty="0">
              <a:latin typeface="Tahoma"/>
              <a:cs typeface="Tahoma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FA0E37C-6387-B70D-3F24-E20A67387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82" y="1069733"/>
            <a:ext cx="777491" cy="77749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622C8FD-7AF1-5015-A743-E2F1D6B9E2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2474"/>
            <a:ext cx="11430000" cy="64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70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1755" y="252"/>
            <a:ext cx="5008245" cy="8788147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57200" y="2042071"/>
            <a:ext cx="566102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Monitoreo</a:t>
            </a:r>
            <a:r>
              <a:rPr spc="-140" dirty="0"/>
              <a:t> </a:t>
            </a:r>
            <a:r>
              <a:rPr spc="80" dirty="0"/>
              <a:t>en</a:t>
            </a:r>
            <a:r>
              <a:rPr spc="-140" dirty="0"/>
              <a:t> </a:t>
            </a:r>
            <a:r>
              <a:rPr spc="55" dirty="0"/>
              <a:t>Tiempo</a:t>
            </a:r>
            <a:r>
              <a:rPr spc="-140" dirty="0"/>
              <a:t> </a:t>
            </a:r>
            <a:r>
              <a:rPr spc="-20" dirty="0"/>
              <a:t>Real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7200" y="2637383"/>
            <a:ext cx="5793105" cy="1055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EDEDE8"/>
                </a:solidFill>
                <a:latin typeface="Tahoma"/>
                <a:cs typeface="Tahoma"/>
              </a:rPr>
              <a:t>Comunicación</a:t>
            </a:r>
            <a:r>
              <a:rPr sz="1650" b="1" spc="-30" dirty="0">
                <a:solidFill>
                  <a:srgbClr val="EDEDE8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DEDE8"/>
                </a:solidFill>
                <a:latin typeface="Tahoma"/>
                <a:cs typeface="Tahoma"/>
              </a:rPr>
              <a:t>SignalR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739"/>
              </a:spcBef>
            </a:pPr>
            <a:r>
              <a:rPr sz="1350" spc="65" dirty="0" err="1">
                <a:solidFill>
                  <a:srgbClr val="C9C9BF"/>
                </a:solidFill>
                <a:latin typeface="Tahoma"/>
                <a:cs typeface="Tahoma"/>
              </a:rPr>
              <a:t>Utilizamos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lang="es-GT" sz="1350" spc="65" dirty="0" err="1">
                <a:solidFill>
                  <a:srgbClr val="C9C9BF"/>
                </a:solidFill>
                <a:latin typeface="Tahoma"/>
                <a:cs typeface="Tahoma"/>
              </a:rPr>
              <a:t>WebSockets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para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una</a:t>
            </a:r>
            <a:r>
              <a:rPr sz="1350" spc="-10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conexión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dúplex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permanente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entre</a:t>
            </a:r>
            <a:r>
              <a:rPr sz="1350" spc="-10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C9C9BF"/>
                </a:solidFill>
                <a:latin typeface="Tahoma"/>
                <a:cs typeface="Tahoma"/>
              </a:rPr>
              <a:t>el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bus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y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tutor.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9900" y="3912145"/>
            <a:ext cx="2886075" cy="1266825"/>
          </a:xfrm>
          <a:custGeom>
            <a:avLst/>
            <a:gdLst/>
            <a:ahLst/>
            <a:cxnLst/>
            <a:rect l="l" t="t" r="r" b="b"/>
            <a:pathLst>
              <a:path w="2886075" h="1266825">
                <a:moveTo>
                  <a:pt x="2867482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88" y="1266825"/>
                </a:lnTo>
                <a:lnTo>
                  <a:pt x="2867482" y="1266825"/>
                </a:lnTo>
                <a:lnTo>
                  <a:pt x="2886075" y="12482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8650" y="4075658"/>
            <a:ext cx="2557780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C9C9BF"/>
                </a:solidFill>
                <a:latin typeface="Tahoma"/>
                <a:cs typeface="Tahoma"/>
              </a:rPr>
              <a:t>Reducción</a:t>
            </a:r>
            <a:r>
              <a:rPr sz="1650" b="1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650" b="1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Latencia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Visualización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tiempo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real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9C9BF"/>
                </a:solidFill>
                <a:latin typeface="Tahoma"/>
                <a:cs typeface="Tahoma"/>
              </a:rPr>
              <a:t>de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la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posición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del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30" dirty="0">
                <a:solidFill>
                  <a:srgbClr val="C9C9BF"/>
                </a:solidFill>
                <a:latin typeface="Tahoma"/>
                <a:cs typeface="Tahoma"/>
              </a:rPr>
              <a:t>bus.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27425" y="3692753"/>
            <a:ext cx="2886075" cy="1486217"/>
          </a:xfrm>
          <a:custGeom>
            <a:avLst/>
            <a:gdLst/>
            <a:ahLst/>
            <a:cxnLst/>
            <a:rect l="l" t="t" r="r" b="b"/>
            <a:pathLst>
              <a:path w="2886075" h="126682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92" y="1266825"/>
                </a:lnTo>
                <a:lnTo>
                  <a:pt x="2867482" y="1266825"/>
                </a:lnTo>
                <a:lnTo>
                  <a:pt x="2886075" y="12482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647144" y="3739135"/>
            <a:ext cx="2766356" cy="13905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50" dirty="0" err="1">
                <a:solidFill>
                  <a:srgbClr val="C9C9BF"/>
                </a:solidFill>
                <a:latin typeface="Tahoma"/>
                <a:cs typeface="Tahoma"/>
              </a:rPr>
              <a:t>Haversibe</a:t>
            </a:r>
            <a:r>
              <a:rPr lang="es-GT" sz="1650" b="1" spc="50" dirty="0">
                <a:solidFill>
                  <a:srgbClr val="C9C9BF"/>
                </a:solidFill>
                <a:latin typeface="Tahoma"/>
                <a:cs typeface="Tahoma"/>
              </a:rPr>
              <a:t> (radio circular)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Cálculo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 err="1">
                <a:solidFill>
                  <a:srgbClr val="C9C9BF"/>
                </a:solidFill>
                <a:latin typeface="Tahoma"/>
                <a:cs typeface="Tahoma"/>
              </a:rPr>
              <a:t>cercanía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lang="es-GT" sz="1350" spc="-110" dirty="0">
                <a:solidFill>
                  <a:srgbClr val="C9C9BF"/>
                </a:solidFill>
                <a:latin typeface="Tahoma"/>
                <a:cs typeface="Tahoma"/>
              </a:rPr>
              <a:t>a 250 metros a la casa del alumno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con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9C9BF"/>
                </a:solidFill>
                <a:latin typeface="Tahoma"/>
                <a:cs typeface="Tahoma"/>
              </a:rPr>
              <a:t>alertas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automáticas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por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zona.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9900" y="5350421"/>
            <a:ext cx="5943600" cy="981075"/>
          </a:xfrm>
          <a:custGeom>
            <a:avLst/>
            <a:gdLst/>
            <a:ahLst/>
            <a:cxnLst/>
            <a:rect l="l" t="t" r="r" b="b"/>
            <a:pathLst>
              <a:path w="5943600" h="981075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59645"/>
                </a:lnTo>
                <a:lnTo>
                  <a:pt x="0" y="962482"/>
                </a:lnTo>
                <a:lnTo>
                  <a:pt x="18588" y="981076"/>
                </a:lnTo>
                <a:lnTo>
                  <a:pt x="5925007" y="981076"/>
                </a:lnTo>
                <a:lnTo>
                  <a:pt x="5943600" y="96248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8650" y="5513933"/>
            <a:ext cx="4503420" cy="82779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sz="1650" b="1" spc="10" dirty="0">
                <a:solidFill>
                  <a:srgbClr val="C9C9BF"/>
                </a:solidFill>
                <a:latin typeface="Tahoma"/>
                <a:cs typeface="Tahoma"/>
              </a:rPr>
              <a:t>Cliente Signal R:</a:t>
            </a:r>
            <a:endParaRPr sz="16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Rec</a:t>
            </a:r>
            <a:r>
              <a:rPr lang="es-GT" sz="1350" spc="70" dirty="0" err="1">
                <a:solidFill>
                  <a:srgbClr val="C9C9BF"/>
                </a:solidFill>
                <a:latin typeface="Tahoma"/>
                <a:cs typeface="Tahoma"/>
              </a:rPr>
              <a:t>oneciónautomática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ante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pérdida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0" dirty="0">
                <a:solidFill>
                  <a:srgbClr val="C9C9BF"/>
                </a:solidFill>
                <a:latin typeface="Tahoma"/>
                <a:cs typeface="Tahoma"/>
              </a:rPr>
              <a:t>momentánea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cobertura.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2050"/>
          </a:xfrm>
          <a:custGeom>
            <a:avLst/>
            <a:gdLst/>
            <a:ahLst/>
            <a:cxnLst/>
            <a:rect l="l" t="t" r="r" b="b"/>
            <a:pathLst>
              <a:path w="11430000" h="8782050">
                <a:moveTo>
                  <a:pt x="11430000" y="0"/>
                </a:moveTo>
                <a:lnTo>
                  <a:pt x="0" y="0"/>
                </a:lnTo>
                <a:lnTo>
                  <a:pt x="0" y="8782050"/>
                </a:lnTo>
                <a:lnTo>
                  <a:pt x="11430000" y="8782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pc="60" dirty="0"/>
              <a:t>Conciliación</a:t>
            </a:r>
            <a:r>
              <a:rPr spc="-155" dirty="0"/>
              <a:t> </a:t>
            </a:r>
            <a:r>
              <a:rPr spc="60" dirty="0"/>
              <a:t>de</a:t>
            </a:r>
            <a:r>
              <a:rPr spc="-155" dirty="0"/>
              <a:t> </a:t>
            </a:r>
            <a:r>
              <a:rPr spc="55" dirty="0"/>
              <a:t>Cobros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50" dirty="0"/>
              <a:t>Digitalización</a:t>
            </a:r>
            <a:r>
              <a:rPr sz="1650" spc="110" dirty="0"/>
              <a:t> </a:t>
            </a:r>
            <a:r>
              <a:rPr sz="1650" dirty="0"/>
              <a:t>del</a:t>
            </a:r>
            <a:r>
              <a:rPr sz="1650" spc="110" dirty="0"/>
              <a:t> </a:t>
            </a:r>
            <a:r>
              <a:rPr sz="1650" spc="-10" dirty="0"/>
              <a:t>Recaudo</a:t>
            </a:r>
            <a:endParaRPr sz="1650"/>
          </a:p>
        </p:txBody>
      </p:sp>
      <p:sp>
        <p:nvSpPr>
          <p:cNvPr id="4" name="object 4"/>
          <p:cNvSpPr/>
          <p:nvPr/>
        </p:nvSpPr>
        <p:spPr>
          <a:xfrm>
            <a:off x="628650" y="21812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9C9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2514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9C9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50" y="2847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C9C9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El</a:t>
            </a:r>
            <a:r>
              <a:rPr spc="-105" dirty="0"/>
              <a:t> </a:t>
            </a:r>
            <a:r>
              <a:rPr spc="90" dirty="0"/>
              <a:t>sistema</a:t>
            </a:r>
            <a:r>
              <a:rPr spc="-105" dirty="0"/>
              <a:t> </a:t>
            </a:r>
            <a:r>
              <a:rPr spc="70" dirty="0"/>
              <a:t>elimina</a:t>
            </a:r>
            <a:r>
              <a:rPr spc="-100" dirty="0"/>
              <a:t> </a:t>
            </a:r>
            <a:r>
              <a:rPr dirty="0"/>
              <a:t>la</a:t>
            </a:r>
            <a:r>
              <a:rPr spc="-105" dirty="0"/>
              <a:t> </a:t>
            </a:r>
            <a:r>
              <a:rPr spc="60" dirty="0"/>
              <a:t>fricción</a:t>
            </a:r>
            <a:r>
              <a:rPr spc="-105" dirty="0"/>
              <a:t> </a:t>
            </a:r>
            <a:r>
              <a:rPr spc="60" dirty="0"/>
              <a:t>administrativa</a:t>
            </a:r>
            <a:r>
              <a:rPr spc="-100" dirty="0"/>
              <a:t> </a:t>
            </a:r>
            <a:r>
              <a:rPr dirty="0"/>
              <a:t>al</a:t>
            </a:r>
            <a:r>
              <a:rPr spc="-105" dirty="0"/>
              <a:t> </a:t>
            </a:r>
            <a:r>
              <a:rPr spc="55" dirty="0"/>
              <a:t>centralizar</a:t>
            </a:r>
            <a:r>
              <a:rPr spc="-100" dirty="0"/>
              <a:t> </a:t>
            </a:r>
            <a:r>
              <a:rPr spc="65" dirty="0"/>
              <a:t>todos</a:t>
            </a:r>
            <a:r>
              <a:rPr spc="-105" dirty="0"/>
              <a:t> </a:t>
            </a:r>
            <a:r>
              <a:rPr spc="70" dirty="0"/>
              <a:t>los</a:t>
            </a:r>
            <a:r>
              <a:rPr spc="-105" dirty="0"/>
              <a:t> </a:t>
            </a:r>
            <a:r>
              <a:rPr spc="65" dirty="0"/>
              <a:t>reportes</a:t>
            </a:r>
            <a:r>
              <a:rPr spc="-100" dirty="0"/>
              <a:t> </a:t>
            </a:r>
            <a:r>
              <a:rPr spc="70" dirty="0"/>
              <a:t>de</a:t>
            </a:r>
            <a:r>
              <a:rPr spc="-105" dirty="0"/>
              <a:t> </a:t>
            </a:r>
            <a:r>
              <a:rPr spc="65" dirty="0"/>
              <a:t>pago</a:t>
            </a:r>
            <a:r>
              <a:rPr spc="-100" dirty="0"/>
              <a:t> </a:t>
            </a:r>
            <a:r>
              <a:rPr spc="85" dirty="0"/>
              <a:t>en</a:t>
            </a:r>
            <a:r>
              <a:rPr spc="-105" dirty="0"/>
              <a:t> </a:t>
            </a:r>
            <a:r>
              <a:rPr spc="80" dirty="0"/>
              <a:t>una</a:t>
            </a:r>
            <a:r>
              <a:rPr spc="-105" dirty="0"/>
              <a:t> </a:t>
            </a:r>
            <a:r>
              <a:rPr spc="65" dirty="0"/>
              <a:t>sola</a:t>
            </a:r>
            <a:r>
              <a:rPr spc="-100" dirty="0"/>
              <a:t> </a:t>
            </a:r>
            <a:r>
              <a:rPr spc="80" dirty="0"/>
              <a:t>base</a:t>
            </a:r>
            <a:r>
              <a:rPr spc="-105" dirty="0"/>
              <a:t> </a:t>
            </a:r>
            <a:r>
              <a:rPr spc="70" dirty="0"/>
              <a:t>de</a:t>
            </a:r>
            <a:r>
              <a:rPr spc="-105" dirty="0"/>
              <a:t> </a:t>
            </a:r>
            <a:r>
              <a:rPr spc="65" dirty="0"/>
              <a:t>datos</a:t>
            </a:r>
            <a:r>
              <a:rPr spc="-100" dirty="0"/>
              <a:t> </a:t>
            </a:r>
            <a:r>
              <a:rPr spc="-10" dirty="0"/>
              <a:t>auditable.</a:t>
            </a: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pc="-10" dirty="0"/>
          </a:p>
          <a:p>
            <a:pPr marL="286385">
              <a:lnSpc>
                <a:spcPct val="100000"/>
              </a:lnSpc>
            </a:pPr>
            <a:r>
              <a:rPr spc="55" dirty="0"/>
              <a:t>Carga</a:t>
            </a:r>
            <a:r>
              <a:rPr spc="-120" dirty="0"/>
              <a:t> </a:t>
            </a:r>
            <a:r>
              <a:rPr spc="70" dirty="0"/>
              <a:t>de</a:t>
            </a:r>
            <a:r>
              <a:rPr spc="-114" dirty="0"/>
              <a:t> </a:t>
            </a:r>
            <a:r>
              <a:rPr spc="60" dirty="0"/>
              <a:t>boletas</a:t>
            </a:r>
            <a:r>
              <a:rPr spc="-120" dirty="0"/>
              <a:t> </a:t>
            </a:r>
            <a:r>
              <a:rPr spc="70" dirty="0"/>
              <a:t>de</a:t>
            </a:r>
            <a:r>
              <a:rPr spc="-114" dirty="0"/>
              <a:t> </a:t>
            </a:r>
            <a:r>
              <a:rPr spc="60" dirty="0"/>
              <a:t>depósito</a:t>
            </a:r>
            <a:r>
              <a:rPr spc="-120" dirty="0"/>
              <a:t> </a:t>
            </a:r>
            <a:r>
              <a:rPr spc="35" dirty="0"/>
              <a:t>(Imagen/PDF).</a:t>
            </a:r>
          </a:p>
          <a:p>
            <a:pPr marL="286385" marR="5168265">
              <a:lnSpc>
                <a:spcPct val="162000"/>
              </a:lnSpc>
            </a:pPr>
            <a:r>
              <a:rPr spc="50" dirty="0"/>
              <a:t>Historial</a:t>
            </a:r>
            <a:r>
              <a:rPr spc="-110" dirty="0"/>
              <a:t> </a:t>
            </a:r>
            <a:r>
              <a:rPr spc="70" dirty="0"/>
              <a:t>inmutable</a:t>
            </a:r>
            <a:r>
              <a:rPr spc="-110" dirty="0"/>
              <a:t> </a:t>
            </a:r>
            <a:r>
              <a:rPr spc="70" dirty="0"/>
              <a:t>de</a:t>
            </a:r>
            <a:r>
              <a:rPr spc="-110" dirty="0"/>
              <a:t> </a:t>
            </a:r>
            <a:r>
              <a:rPr spc="70" dirty="0"/>
              <a:t>estados</a:t>
            </a:r>
            <a:r>
              <a:rPr spc="-110" dirty="0"/>
              <a:t> </a:t>
            </a:r>
            <a:r>
              <a:rPr spc="35" dirty="0"/>
              <a:t>(Pendiente/Aprobado). </a:t>
            </a:r>
            <a:r>
              <a:rPr spc="60" dirty="0"/>
              <a:t>Notificaciones</a:t>
            </a:r>
            <a:r>
              <a:rPr spc="-110" dirty="0"/>
              <a:t> </a:t>
            </a:r>
            <a:r>
              <a:rPr spc="70" dirty="0"/>
              <a:t>automáticas</a:t>
            </a:r>
            <a:r>
              <a:rPr spc="-105" dirty="0"/>
              <a:t> </a:t>
            </a:r>
            <a:r>
              <a:rPr spc="70" dirty="0"/>
              <a:t>de</a:t>
            </a:r>
            <a:r>
              <a:rPr spc="-105" dirty="0"/>
              <a:t> </a:t>
            </a:r>
            <a:r>
              <a:rPr spc="70" dirty="0"/>
              <a:t>saldo</a:t>
            </a:r>
            <a:r>
              <a:rPr spc="-110" dirty="0"/>
              <a:t> </a:t>
            </a:r>
            <a:r>
              <a:rPr spc="-10" dirty="0"/>
              <a:t>pendiente.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590924"/>
            <a:ext cx="6505574" cy="433387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534275" y="3400424"/>
            <a:ext cx="3305175" cy="1371600"/>
            <a:chOff x="7534275" y="3400424"/>
            <a:chExt cx="3305175" cy="1371600"/>
          </a:xfrm>
        </p:grpSpPr>
        <p:sp>
          <p:nvSpPr>
            <p:cNvPr id="10" name="object 10"/>
            <p:cNvSpPr/>
            <p:nvPr/>
          </p:nvSpPr>
          <p:spPr>
            <a:xfrm>
              <a:off x="7543800" y="3409949"/>
              <a:ext cx="3286125" cy="1352550"/>
            </a:xfrm>
            <a:custGeom>
              <a:avLst/>
              <a:gdLst/>
              <a:ahLst/>
              <a:cxnLst/>
              <a:rect l="l" t="t" r="r" b="b"/>
              <a:pathLst>
                <a:path w="3286125" h="1352550">
                  <a:moveTo>
                    <a:pt x="3277501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340650"/>
                  </a:lnTo>
                  <a:lnTo>
                    <a:pt x="0" y="1343926"/>
                  </a:lnTo>
                  <a:lnTo>
                    <a:pt x="1155" y="1346733"/>
                  </a:lnTo>
                  <a:lnTo>
                    <a:pt x="5803" y="1351381"/>
                  </a:lnTo>
                  <a:lnTo>
                    <a:pt x="8623" y="1352550"/>
                  </a:lnTo>
                  <a:lnTo>
                    <a:pt x="3277501" y="1352550"/>
                  </a:lnTo>
                  <a:lnTo>
                    <a:pt x="3280308" y="1351381"/>
                  </a:lnTo>
                  <a:lnTo>
                    <a:pt x="3284969" y="1346733"/>
                  </a:lnTo>
                  <a:lnTo>
                    <a:pt x="3286125" y="1343926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43800" y="3409949"/>
              <a:ext cx="3286125" cy="1352550"/>
            </a:xfrm>
            <a:custGeom>
              <a:avLst/>
              <a:gdLst/>
              <a:ahLst/>
              <a:cxnLst/>
              <a:rect l="l" t="t" r="r" b="b"/>
              <a:pathLst>
                <a:path w="3286125" h="1352550">
                  <a:moveTo>
                    <a:pt x="0" y="1340650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74225" y="0"/>
                  </a:lnTo>
                  <a:lnTo>
                    <a:pt x="3277501" y="0"/>
                  </a:lnTo>
                  <a:lnTo>
                    <a:pt x="3280308" y="1155"/>
                  </a:lnTo>
                  <a:lnTo>
                    <a:pt x="3282632" y="3492"/>
                  </a:lnTo>
                  <a:lnTo>
                    <a:pt x="3284969" y="5803"/>
                  </a:lnTo>
                  <a:lnTo>
                    <a:pt x="3286125" y="8623"/>
                  </a:lnTo>
                  <a:lnTo>
                    <a:pt x="3286125" y="11912"/>
                  </a:lnTo>
                  <a:lnTo>
                    <a:pt x="3286125" y="1340650"/>
                  </a:lnTo>
                  <a:lnTo>
                    <a:pt x="3286125" y="1343926"/>
                  </a:lnTo>
                  <a:lnTo>
                    <a:pt x="3284969" y="1346733"/>
                  </a:lnTo>
                  <a:lnTo>
                    <a:pt x="3282632" y="1349057"/>
                  </a:lnTo>
                  <a:lnTo>
                    <a:pt x="3280308" y="1351381"/>
                  </a:lnTo>
                  <a:lnTo>
                    <a:pt x="3277501" y="1352550"/>
                  </a:lnTo>
                  <a:lnTo>
                    <a:pt x="3274225" y="1352550"/>
                  </a:lnTo>
                  <a:lnTo>
                    <a:pt x="11912" y="1352550"/>
                  </a:lnTo>
                  <a:lnTo>
                    <a:pt x="8623" y="1352550"/>
                  </a:lnTo>
                  <a:lnTo>
                    <a:pt x="5803" y="1351381"/>
                  </a:lnTo>
                  <a:lnTo>
                    <a:pt x="3492" y="1349057"/>
                  </a:lnTo>
                  <a:lnTo>
                    <a:pt x="1155" y="1346733"/>
                  </a:lnTo>
                  <a:lnTo>
                    <a:pt x="0" y="1343926"/>
                  </a:lnTo>
                  <a:lnTo>
                    <a:pt x="0" y="1340650"/>
                  </a:lnTo>
                  <a:close/>
                </a:path>
              </a:pathLst>
            </a:custGeom>
            <a:ln w="19050">
              <a:solidFill>
                <a:srgbClr val="545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08506" y="3582987"/>
            <a:ext cx="268478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C9C9BF"/>
                </a:solidFill>
                <a:latin typeface="Tahoma"/>
                <a:cs typeface="Tahoma"/>
              </a:rPr>
              <a:t>Carga</a:t>
            </a:r>
            <a:r>
              <a:rPr sz="1650" b="1" spc="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Digital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Boletas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depósito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0" dirty="0">
                <a:solidFill>
                  <a:srgbClr val="C9C9BF"/>
                </a:solidFill>
                <a:latin typeface="Tahoma"/>
                <a:cs typeface="Tahoma"/>
              </a:rPr>
              <a:t>imagen</a:t>
            </a:r>
            <a:r>
              <a:rPr sz="1350" spc="-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15" dirty="0">
                <a:solidFill>
                  <a:srgbClr val="C9C9BF"/>
                </a:solidFill>
                <a:latin typeface="Tahoma"/>
                <a:cs typeface="Tahoma"/>
              </a:rPr>
              <a:t>o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PDF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directamente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al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sistema.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4943474"/>
            <a:ext cx="3305175" cy="1362075"/>
            <a:chOff x="7534275" y="4943474"/>
            <a:chExt cx="3305175" cy="1362075"/>
          </a:xfrm>
        </p:grpSpPr>
        <p:sp>
          <p:nvSpPr>
            <p:cNvPr id="14" name="object 14"/>
            <p:cNvSpPr/>
            <p:nvPr/>
          </p:nvSpPr>
          <p:spPr>
            <a:xfrm>
              <a:off x="7543800" y="4952999"/>
              <a:ext cx="3286125" cy="1343025"/>
            </a:xfrm>
            <a:custGeom>
              <a:avLst/>
              <a:gdLst/>
              <a:ahLst/>
              <a:cxnLst/>
              <a:rect l="l" t="t" r="r" b="b"/>
              <a:pathLst>
                <a:path w="3286125" h="1343025">
                  <a:moveTo>
                    <a:pt x="3277501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331125"/>
                  </a:lnTo>
                  <a:lnTo>
                    <a:pt x="0" y="1334401"/>
                  </a:lnTo>
                  <a:lnTo>
                    <a:pt x="1155" y="1337208"/>
                  </a:lnTo>
                  <a:lnTo>
                    <a:pt x="5803" y="1341856"/>
                  </a:lnTo>
                  <a:lnTo>
                    <a:pt x="8623" y="1343025"/>
                  </a:lnTo>
                  <a:lnTo>
                    <a:pt x="3277501" y="1343025"/>
                  </a:lnTo>
                  <a:lnTo>
                    <a:pt x="3280308" y="1341856"/>
                  </a:lnTo>
                  <a:lnTo>
                    <a:pt x="3284969" y="1337208"/>
                  </a:lnTo>
                  <a:lnTo>
                    <a:pt x="3286125" y="1334401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43800" y="4952999"/>
              <a:ext cx="3286125" cy="1343025"/>
            </a:xfrm>
            <a:custGeom>
              <a:avLst/>
              <a:gdLst/>
              <a:ahLst/>
              <a:cxnLst/>
              <a:rect l="l" t="t" r="r" b="b"/>
              <a:pathLst>
                <a:path w="3286125" h="1343025">
                  <a:moveTo>
                    <a:pt x="0" y="133112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74225" y="0"/>
                  </a:lnTo>
                  <a:lnTo>
                    <a:pt x="3277501" y="0"/>
                  </a:lnTo>
                  <a:lnTo>
                    <a:pt x="3280308" y="1155"/>
                  </a:lnTo>
                  <a:lnTo>
                    <a:pt x="3282632" y="3492"/>
                  </a:lnTo>
                  <a:lnTo>
                    <a:pt x="3284969" y="5803"/>
                  </a:lnTo>
                  <a:lnTo>
                    <a:pt x="3286125" y="8623"/>
                  </a:lnTo>
                  <a:lnTo>
                    <a:pt x="3286125" y="11912"/>
                  </a:lnTo>
                  <a:lnTo>
                    <a:pt x="3286125" y="1331125"/>
                  </a:lnTo>
                  <a:lnTo>
                    <a:pt x="3286125" y="1334401"/>
                  </a:lnTo>
                  <a:lnTo>
                    <a:pt x="3284969" y="1337208"/>
                  </a:lnTo>
                  <a:lnTo>
                    <a:pt x="3282632" y="1339532"/>
                  </a:lnTo>
                  <a:lnTo>
                    <a:pt x="3280308" y="1341856"/>
                  </a:lnTo>
                  <a:lnTo>
                    <a:pt x="3277501" y="1343025"/>
                  </a:lnTo>
                  <a:lnTo>
                    <a:pt x="3274225" y="1343025"/>
                  </a:lnTo>
                  <a:lnTo>
                    <a:pt x="11912" y="1343025"/>
                  </a:lnTo>
                  <a:lnTo>
                    <a:pt x="8623" y="1343025"/>
                  </a:lnTo>
                  <a:lnTo>
                    <a:pt x="5803" y="1341856"/>
                  </a:lnTo>
                  <a:lnTo>
                    <a:pt x="3492" y="1339532"/>
                  </a:lnTo>
                  <a:lnTo>
                    <a:pt x="1155" y="1337208"/>
                  </a:lnTo>
                  <a:lnTo>
                    <a:pt x="0" y="1334401"/>
                  </a:lnTo>
                  <a:lnTo>
                    <a:pt x="0" y="1331125"/>
                  </a:lnTo>
                  <a:close/>
                </a:path>
              </a:pathLst>
            </a:custGeom>
            <a:ln w="19050">
              <a:solidFill>
                <a:srgbClr val="545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08506" y="5126037"/>
            <a:ext cx="2844800" cy="9601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C9C9BF"/>
                </a:solidFill>
                <a:latin typeface="Tahoma"/>
                <a:cs typeface="Tahoma"/>
              </a:rPr>
              <a:t>Historial</a:t>
            </a:r>
            <a:r>
              <a:rPr sz="1650" b="1" spc="5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Inmutable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1140"/>
              </a:spcBef>
            </a:pP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Estados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Pendiente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/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Aprobado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con </a:t>
            </a:r>
            <a:r>
              <a:rPr sz="1350" spc="30" dirty="0">
                <a:solidFill>
                  <a:srgbClr val="C9C9BF"/>
                </a:solidFill>
                <a:latin typeface="Tahoma"/>
                <a:cs typeface="Tahoma"/>
              </a:rPr>
              <a:t>trazabilidad</a:t>
            </a:r>
            <a:r>
              <a:rPr sz="1350" spc="11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9C9BF"/>
                </a:solidFill>
                <a:latin typeface="Tahoma"/>
                <a:cs typeface="Tahoma"/>
              </a:rPr>
              <a:t>completa.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534275" y="6476999"/>
            <a:ext cx="3305175" cy="1638300"/>
            <a:chOff x="7534275" y="6476999"/>
            <a:chExt cx="3305175" cy="1638300"/>
          </a:xfrm>
        </p:grpSpPr>
        <p:sp>
          <p:nvSpPr>
            <p:cNvPr id="18" name="object 18"/>
            <p:cNvSpPr/>
            <p:nvPr/>
          </p:nvSpPr>
          <p:spPr>
            <a:xfrm>
              <a:off x="7543800" y="6486524"/>
              <a:ext cx="3286125" cy="1619250"/>
            </a:xfrm>
            <a:custGeom>
              <a:avLst/>
              <a:gdLst/>
              <a:ahLst/>
              <a:cxnLst/>
              <a:rect l="l" t="t" r="r" b="b"/>
              <a:pathLst>
                <a:path w="3286125" h="1619250">
                  <a:moveTo>
                    <a:pt x="3277501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607345"/>
                  </a:lnTo>
                  <a:lnTo>
                    <a:pt x="0" y="1610629"/>
                  </a:lnTo>
                  <a:lnTo>
                    <a:pt x="1155" y="1613437"/>
                  </a:lnTo>
                  <a:lnTo>
                    <a:pt x="5803" y="1618085"/>
                  </a:lnTo>
                  <a:lnTo>
                    <a:pt x="8623" y="1619251"/>
                  </a:lnTo>
                  <a:lnTo>
                    <a:pt x="3277501" y="1619251"/>
                  </a:lnTo>
                  <a:lnTo>
                    <a:pt x="3280308" y="1618085"/>
                  </a:lnTo>
                  <a:lnTo>
                    <a:pt x="3284969" y="1613437"/>
                  </a:lnTo>
                  <a:lnTo>
                    <a:pt x="3286125" y="1610629"/>
                  </a:lnTo>
                  <a:lnTo>
                    <a:pt x="3286125" y="8623"/>
                  </a:lnTo>
                  <a:lnTo>
                    <a:pt x="3284969" y="5803"/>
                  </a:lnTo>
                  <a:lnTo>
                    <a:pt x="3282632" y="3492"/>
                  </a:lnTo>
                  <a:lnTo>
                    <a:pt x="3280308" y="1155"/>
                  </a:lnTo>
                  <a:lnTo>
                    <a:pt x="327750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543800" y="6486524"/>
              <a:ext cx="3286125" cy="1619250"/>
            </a:xfrm>
            <a:custGeom>
              <a:avLst/>
              <a:gdLst/>
              <a:ahLst/>
              <a:cxnLst/>
              <a:rect l="l" t="t" r="r" b="b"/>
              <a:pathLst>
                <a:path w="3286125" h="1619250">
                  <a:moveTo>
                    <a:pt x="0" y="160734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74225" y="0"/>
                  </a:lnTo>
                  <a:lnTo>
                    <a:pt x="3277501" y="0"/>
                  </a:lnTo>
                  <a:lnTo>
                    <a:pt x="3280308" y="1155"/>
                  </a:lnTo>
                  <a:lnTo>
                    <a:pt x="3282632" y="3492"/>
                  </a:lnTo>
                  <a:lnTo>
                    <a:pt x="3284969" y="5803"/>
                  </a:lnTo>
                  <a:lnTo>
                    <a:pt x="3286125" y="8623"/>
                  </a:lnTo>
                  <a:lnTo>
                    <a:pt x="3286125" y="11912"/>
                  </a:lnTo>
                  <a:lnTo>
                    <a:pt x="3286125" y="1607345"/>
                  </a:lnTo>
                  <a:lnTo>
                    <a:pt x="3286125" y="1610629"/>
                  </a:lnTo>
                  <a:lnTo>
                    <a:pt x="3284969" y="1613437"/>
                  </a:lnTo>
                  <a:lnTo>
                    <a:pt x="3282632" y="1615763"/>
                  </a:lnTo>
                  <a:lnTo>
                    <a:pt x="3280308" y="1618085"/>
                  </a:lnTo>
                  <a:lnTo>
                    <a:pt x="3277501" y="1619251"/>
                  </a:lnTo>
                  <a:lnTo>
                    <a:pt x="3274225" y="1619251"/>
                  </a:lnTo>
                  <a:lnTo>
                    <a:pt x="11912" y="1619251"/>
                  </a:lnTo>
                  <a:lnTo>
                    <a:pt x="8623" y="1619251"/>
                  </a:lnTo>
                  <a:lnTo>
                    <a:pt x="5803" y="1618085"/>
                  </a:lnTo>
                  <a:lnTo>
                    <a:pt x="3492" y="1615763"/>
                  </a:lnTo>
                  <a:lnTo>
                    <a:pt x="1155" y="1613437"/>
                  </a:lnTo>
                  <a:lnTo>
                    <a:pt x="0" y="1610629"/>
                  </a:lnTo>
                  <a:lnTo>
                    <a:pt x="0" y="1607345"/>
                  </a:lnTo>
                  <a:close/>
                </a:path>
              </a:pathLst>
            </a:custGeom>
            <a:ln w="19050">
              <a:solidFill>
                <a:srgbClr val="5454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08506" y="6659562"/>
            <a:ext cx="2832735" cy="12363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1261745">
              <a:lnSpc>
                <a:spcPct val="106100"/>
              </a:lnSpc>
              <a:spcBef>
                <a:spcPts val="15"/>
              </a:spcBef>
            </a:pP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Notificaciones Automáticas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Alertas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saldo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pendiente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enviadas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sin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intervención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manual.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972300">
                <a:moveTo>
                  <a:pt x="11429999" y="6972299"/>
                </a:moveTo>
                <a:lnTo>
                  <a:pt x="0" y="69722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9722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ECECE7"/>
                </a:solidFill>
              </a:rPr>
              <a:t>Arquitectura</a:t>
            </a:r>
            <a:r>
              <a:rPr spc="-105" dirty="0">
                <a:solidFill>
                  <a:srgbClr val="ECECE7"/>
                </a:solidFill>
              </a:rPr>
              <a:t> </a:t>
            </a:r>
            <a:r>
              <a:rPr spc="70" dirty="0">
                <a:solidFill>
                  <a:srgbClr val="ECECE7"/>
                </a:solidFill>
              </a:rPr>
              <a:t>de</a:t>
            </a:r>
            <a:r>
              <a:rPr spc="-105" dirty="0">
                <a:solidFill>
                  <a:srgbClr val="ECECE7"/>
                </a:solidFill>
              </a:rPr>
              <a:t> </a:t>
            </a:r>
            <a:r>
              <a:rPr spc="-10" dirty="0">
                <a:solidFill>
                  <a:srgbClr val="ECECE7"/>
                </a:solidFill>
              </a:rPr>
              <a:t>Software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9686" y="1769916"/>
            <a:ext cx="4606399" cy="40632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80803" y="1836420"/>
            <a:ext cx="2515870" cy="92836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750" b="1" dirty="0">
                <a:solidFill>
                  <a:srgbClr val="C8C8BF"/>
                </a:solidFill>
                <a:latin typeface="Tahoma"/>
                <a:cs typeface="Tahoma"/>
              </a:rPr>
              <a:t>PaaS</a:t>
            </a:r>
            <a:r>
              <a:rPr sz="1750" b="1" spc="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spc="-20" dirty="0">
                <a:solidFill>
                  <a:srgbClr val="C8C8BF"/>
                </a:solidFill>
                <a:latin typeface="Tahoma"/>
                <a:cs typeface="Tahoma"/>
              </a:rPr>
              <a:t>Azure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645"/>
              </a:spcBef>
            </a:pPr>
            <a:r>
              <a:rPr sz="1400" spc="80" dirty="0">
                <a:solidFill>
                  <a:srgbClr val="C8C8BF"/>
                </a:solidFill>
                <a:latin typeface="Tahoma"/>
                <a:cs typeface="Tahoma"/>
              </a:rPr>
              <a:t>SQL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C8C8BF"/>
                </a:solidFill>
                <a:latin typeface="Tahoma"/>
                <a:cs typeface="Tahoma"/>
              </a:rPr>
              <a:t>Server,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C8C8BF"/>
                </a:solidFill>
                <a:latin typeface="Tahoma"/>
                <a:cs typeface="Tahoma"/>
              </a:rPr>
              <a:t>Blob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55" dirty="0">
                <a:solidFill>
                  <a:srgbClr val="C8C8BF"/>
                </a:solidFill>
                <a:latin typeface="Tahoma"/>
                <a:cs typeface="Tahoma"/>
              </a:rPr>
              <a:t>Storage,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C8C8BF"/>
                </a:solidFill>
                <a:latin typeface="Tahoma"/>
                <a:cs typeface="Tahoma"/>
              </a:rPr>
              <a:t>BD </a:t>
            </a:r>
            <a:r>
              <a:rPr sz="1400" spc="70" dirty="0">
                <a:solidFill>
                  <a:srgbClr val="C8C8BF"/>
                </a:solidFill>
                <a:latin typeface="Tahoma"/>
                <a:cs typeface="Tahoma"/>
              </a:rPr>
              <a:t>gestionada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526" y="3375240"/>
            <a:ext cx="2111375" cy="92836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548005" indent="-228600">
              <a:lnSpc>
                <a:spcPct val="100000"/>
              </a:lnSpc>
              <a:spcBef>
                <a:spcPts val="969"/>
              </a:spcBef>
            </a:pPr>
            <a:r>
              <a:rPr sz="1750" b="1" spc="50" dirty="0">
                <a:solidFill>
                  <a:srgbClr val="C8C8BF"/>
                </a:solidFill>
                <a:latin typeface="Tahoma"/>
                <a:cs typeface="Tahoma"/>
              </a:rPr>
              <a:t>Servidor</a:t>
            </a:r>
            <a:r>
              <a:rPr sz="1750" b="1" spc="-8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dirty="0">
                <a:solidFill>
                  <a:srgbClr val="C8C8BF"/>
                </a:solidFill>
                <a:latin typeface="Tahoma"/>
                <a:cs typeface="Tahoma"/>
              </a:rPr>
              <a:t>.NET</a:t>
            </a:r>
            <a:r>
              <a:rPr sz="1750" b="1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spc="50" dirty="0">
                <a:solidFill>
                  <a:srgbClr val="C8C8BF"/>
                </a:solidFill>
                <a:latin typeface="Tahoma"/>
                <a:cs typeface="Tahoma"/>
              </a:rPr>
              <a:t>8</a:t>
            </a:r>
            <a:endParaRPr sz="1750">
              <a:latin typeface="Tahoma"/>
              <a:cs typeface="Tahoma"/>
            </a:endParaRPr>
          </a:p>
          <a:p>
            <a:pPr marL="12700" marR="5080" indent="535305">
              <a:lnSpc>
                <a:spcPct val="103699"/>
              </a:lnSpc>
              <a:spcBef>
                <a:spcPts val="645"/>
              </a:spcBef>
            </a:pPr>
            <a:r>
              <a:rPr sz="1400" spc="60" dirty="0">
                <a:solidFill>
                  <a:srgbClr val="C8C8BF"/>
                </a:solidFill>
                <a:latin typeface="Tahoma"/>
                <a:cs typeface="Tahoma"/>
              </a:rPr>
              <a:t>Identity</a:t>
            </a:r>
            <a:r>
              <a:rPr sz="1400" spc="-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8C8BF"/>
                </a:solidFill>
                <a:latin typeface="Tahoma"/>
                <a:cs typeface="Tahoma"/>
              </a:rPr>
              <a:t>Core,</a:t>
            </a:r>
            <a:r>
              <a:rPr sz="1400" spc="-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C8C8BF"/>
                </a:solidFill>
                <a:latin typeface="Tahoma"/>
                <a:cs typeface="Tahoma"/>
              </a:rPr>
              <a:t>Hub </a:t>
            </a:r>
            <a:r>
              <a:rPr sz="1400" spc="60" dirty="0">
                <a:solidFill>
                  <a:srgbClr val="C8C8BF"/>
                </a:solidFill>
                <a:latin typeface="Tahoma"/>
                <a:cs typeface="Tahoma"/>
              </a:rPr>
              <a:t>SignalR,</a:t>
            </a:r>
            <a:r>
              <a:rPr sz="140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C8C8BF"/>
                </a:solidFill>
                <a:latin typeface="Tahoma"/>
                <a:cs typeface="Tahoma"/>
              </a:rPr>
              <a:t>Capas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0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40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60" dirty="0">
                <a:solidFill>
                  <a:srgbClr val="C8C8BF"/>
                </a:solidFill>
                <a:latin typeface="Tahoma"/>
                <a:cs typeface="Tahoma"/>
              </a:rPr>
              <a:t>lógica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803" y="4169793"/>
            <a:ext cx="2453005" cy="928369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sz="1750" b="1" dirty="0">
                <a:solidFill>
                  <a:srgbClr val="C8C8BF"/>
                </a:solidFill>
                <a:latin typeface="Tahoma"/>
                <a:cs typeface="Tahoma"/>
              </a:rPr>
              <a:t>Cliente</a:t>
            </a:r>
            <a:r>
              <a:rPr sz="1750" b="1" spc="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750" b="1" spc="-25" dirty="0">
                <a:solidFill>
                  <a:srgbClr val="C8C8BF"/>
                </a:solidFill>
                <a:latin typeface="Tahoma"/>
                <a:cs typeface="Tahoma"/>
              </a:rPr>
              <a:t>Web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645"/>
              </a:spcBef>
            </a:pPr>
            <a:r>
              <a:rPr sz="1400" spc="80" dirty="0">
                <a:solidFill>
                  <a:srgbClr val="C8C8BF"/>
                </a:solidFill>
                <a:latin typeface="Tahoma"/>
                <a:cs typeface="Tahoma"/>
              </a:rPr>
              <a:t>Razor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8C8BF"/>
                </a:solidFill>
                <a:latin typeface="Tahoma"/>
                <a:cs typeface="Tahoma"/>
              </a:rPr>
              <a:t>UI,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85" dirty="0">
                <a:solidFill>
                  <a:srgbClr val="C8C8BF"/>
                </a:solidFill>
                <a:latin typeface="Tahoma"/>
                <a:cs typeface="Tahoma"/>
              </a:rPr>
              <a:t>SignalR</a:t>
            </a:r>
            <a:r>
              <a:rPr sz="140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95" dirty="0">
                <a:solidFill>
                  <a:srgbClr val="C8C8BF"/>
                </a:solidFill>
                <a:latin typeface="Tahoma"/>
                <a:cs typeface="Tahoma"/>
              </a:rPr>
              <a:t>JS,</a:t>
            </a:r>
            <a:r>
              <a:rPr sz="140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spc="75" dirty="0">
                <a:solidFill>
                  <a:srgbClr val="C8C8BF"/>
                </a:solidFill>
                <a:latin typeface="Tahoma"/>
                <a:cs typeface="Tahoma"/>
              </a:rPr>
              <a:t>Diseño </a:t>
            </a:r>
            <a:r>
              <a:rPr sz="1400" spc="85" dirty="0">
                <a:solidFill>
                  <a:srgbClr val="C8C8BF"/>
                </a:solidFill>
                <a:latin typeface="Tahoma"/>
                <a:cs typeface="Tahoma"/>
              </a:rPr>
              <a:t>responsivo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4" y="6239948"/>
            <a:ext cx="9290685" cy="237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Diseño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estructurado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bajo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la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Tercera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Forma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Normal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(3FN)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105" dirty="0">
                <a:solidFill>
                  <a:srgbClr val="C8C8BF"/>
                </a:solidFill>
                <a:latin typeface="Tahoma"/>
                <a:cs typeface="Tahoma"/>
              </a:rPr>
              <a:t>esquemas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negocio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i="1" spc="-40" dirty="0">
                <a:solidFill>
                  <a:srgbClr val="C8C8BF"/>
                </a:solidFill>
                <a:latin typeface="Verdana"/>
                <a:cs typeface="Verdana"/>
              </a:rPr>
              <a:t>genesis</a:t>
            </a:r>
            <a:r>
              <a:rPr sz="1400" i="1" spc="-145" dirty="0">
                <a:solidFill>
                  <a:srgbClr val="C8C8BF"/>
                </a:solidFill>
                <a:latin typeface="Verdana"/>
                <a:cs typeface="Verdan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administración</a:t>
            </a:r>
            <a:r>
              <a:rPr sz="1350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400" i="1" spc="-20" dirty="0">
                <a:solidFill>
                  <a:srgbClr val="C8C8BF"/>
                </a:solidFill>
                <a:latin typeface="Verdana"/>
                <a:cs typeface="Verdana"/>
              </a:rPr>
              <a:t>dbo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90000"/>
          </a:xfrm>
          <a:custGeom>
            <a:avLst/>
            <a:gdLst/>
            <a:ahLst/>
            <a:cxnLst/>
            <a:rect l="l" t="t" r="r" b="b"/>
            <a:pathLst>
              <a:path w="11430000" h="7258050">
                <a:moveTo>
                  <a:pt x="11430000" y="0"/>
                </a:moveTo>
                <a:lnTo>
                  <a:pt x="0" y="0"/>
                </a:lnTo>
                <a:lnTo>
                  <a:pt x="0" y="7258050"/>
                </a:lnTo>
                <a:lnTo>
                  <a:pt x="11430000" y="7258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dirty="0"/>
              <a:t>Entorno</a:t>
            </a:r>
            <a:r>
              <a:rPr spc="-25" dirty="0"/>
              <a:t> </a:t>
            </a:r>
            <a:r>
              <a:rPr dirty="0"/>
              <a:t>Cloud</a:t>
            </a:r>
            <a:r>
              <a:rPr spc="-20" dirty="0"/>
              <a:t> </a:t>
            </a:r>
            <a:r>
              <a:rPr spc="80" dirty="0"/>
              <a:t>Azure</a:t>
            </a:r>
            <a:r>
              <a:rPr spc="-20" dirty="0"/>
              <a:t> PaaS</a:t>
            </a: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650" dirty="0"/>
              <a:t>Eficiencia</a:t>
            </a:r>
            <a:r>
              <a:rPr sz="1650" spc="135" dirty="0"/>
              <a:t> </a:t>
            </a:r>
            <a:r>
              <a:rPr sz="1650" spc="50" dirty="0"/>
              <a:t>de</a:t>
            </a:r>
            <a:r>
              <a:rPr sz="1650" spc="135" dirty="0"/>
              <a:t> </a:t>
            </a:r>
            <a:r>
              <a:rPr sz="1650" dirty="0"/>
              <a:t>Costos</a:t>
            </a:r>
            <a:r>
              <a:rPr sz="1650" spc="135" dirty="0"/>
              <a:t> </a:t>
            </a:r>
            <a:r>
              <a:rPr sz="1650" spc="-10" dirty="0"/>
              <a:t>Cloud</a:t>
            </a:r>
            <a:endParaRPr sz="1650"/>
          </a:p>
        </p:txBody>
      </p:sp>
      <p:sp>
        <p:nvSpPr>
          <p:cNvPr id="4" name="object 4"/>
          <p:cNvSpPr txBox="1"/>
          <p:nvPr/>
        </p:nvSpPr>
        <p:spPr>
          <a:xfrm>
            <a:off x="587375" y="1616074"/>
            <a:ext cx="90157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Despliegue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100%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sobre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Microsoft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Azure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para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garantizar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escalabilidad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y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cero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mantenimiento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12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hardware</a:t>
            </a:r>
            <a:r>
              <a:rPr sz="1350" spc="-114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local.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5" y="2352674"/>
            <a:ext cx="3305175" cy="4152900"/>
            <a:chOff x="600075" y="2352674"/>
            <a:chExt cx="3305175" cy="4152900"/>
          </a:xfrm>
        </p:grpSpPr>
        <p:sp>
          <p:nvSpPr>
            <p:cNvPr id="6" name="object 6"/>
            <p:cNvSpPr/>
            <p:nvPr/>
          </p:nvSpPr>
          <p:spPr>
            <a:xfrm>
              <a:off x="604837" y="2357437"/>
              <a:ext cx="3295650" cy="4143375"/>
            </a:xfrm>
            <a:custGeom>
              <a:avLst/>
              <a:gdLst/>
              <a:ahLst/>
              <a:cxnLst/>
              <a:rect l="l" t="t" r="r" b="b"/>
              <a:pathLst>
                <a:path w="3295650" h="4143375">
                  <a:moveTo>
                    <a:pt x="0" y="4126707"/>
                  </a:moveTo>
                  <a:lnTo>
                    <a:pt x="0" y="16675"/>
                  </a:lnTo>
                  <a:lnTo>
                    <a:pt x="0" y="14452"/>
                  </a:lnTo>
                  <a:lnTo>
                    <a:pt x="421" y="12331"/>
                  </a:lnTo>
                  <a:lnTo>
                    <a:pt x="1270" y="10287"/>
                  </a:lnTo>
                  <a:lnTo>
                    <a:pt x="2113" y="8242"/>
                  </a:lnTo>
                  <a:lnTo>
                    <a:pt x="3318" y="6438"/>
                  </a:lnTo>
                  <a:lnTo>
                    <a:pt x="4881" y="4876"/>
                  </a:lnTo>
                  <a:lnTo>
                    <a:pt x="6443" y="3314"/>
                  </a:lnTo>
                  <a:lnTo>
                    <a:pt x="8249" y="2108"/>
                  </a:lnTo>
                  <a:lnTo>
                    <a:pt x="10289" y="1270"/>
                  </a:lnTo>
                  <a:lnTo>
                    <a:pt x="12332" y="419"/>
                  </a:lnTo>
                  <a:lnTo>
                    <a:pt x="14456" y="0"/>
                  </a:lnTo>
                  <a:lnTo>
                    <a:pt x="16668" y="0"/>
                  </a:lnTo>
                  <a:lnTo>
                    <a:pt x="3278987" y="0"/>
                  </a:lnTo>
                  <a:lnTo>
                    <a:pt x="3281184" y="0"/>
                  </a:lnTo>
                  <a:lnTo>
                    <a:pt x="3283318" y="419"/>
                  </a:lnTo>
                  <a:lnTo>
                    <a:pt x="3285363" y="1270"/>
                  </a:lnTo>
                  <a:lnTo>
                    <a:pt x="3287395" y="2108"/>
                  </a:lnTo>
                  <a:lnTo>
                    <a:pt x="3289211" y="3314"/>
                  </a:lnTo>
                  <a:lnTo>
                    <a:pt x="3290773" y="4876"/>
                  </a:lnTo>
                  <a:lnTo>
                    <a:pt x="3292335" y="6438"/>
                  </a:lnTo>
                  <a:lnTo>
                    <a:pt x="3293541" y="8242"/>
                  </a:lnTo>
                  <a:lnTo>
                    <a:pt x="3294380" y="10287"/>
                  </a:lnTo>
                  <a:lnTo>
                    <a:pt x="3295230" y="12331"/>
                  </a:lnTo>
                  <a:lnTo>
                    <a:pt x="3295650" y="14452"/>
                  </a:lnTo>
                  <a:lnTo>
                    <a:pt x="3295650" y="16675"/>
                  </a:lnTo>
                  <a:lnTo>
                    <a:pt x="3295650" y="4126707"/>
                  </a:lnTo>
                  <a:lnTo>
                    <a:pt x="3295650" y="4128914"/>
                  </a:lnTo>
                  <a:lnTo>
                    <a:pt x="3295230" y="4131043"/>
                  </a:lnTo>
                  <a:lnTo>
                    <a:pt x="3294380" y="4133081"/>
                  </a:lnTo>
                  <a:lnTo>
                    <a:pt x="3293541" y="4135126"/>
                  </a:lnTo>
                  <a:lnTo>
                    <a:pt x="3292335" y="4136927"/>
                  </a:lnTo>
                  <a:lnTo>
                    <a:pt x="3290773" y="4138489"/>
                  </a:lnTo>
                  <a:lnTo>
                    <a:pt x="3289211" y="4140052"/>
                  </a:lnTo>
                  <a:lnTo>
                    <a:pt x="3287395" y="4141257"/>
                  </a:lnTo>
                  <a:lnTo>
                    <a:pt x="3285363" y="4142106"/>
                  </a:lnTo>
                  <a:lnTo>
                    <a:pt x="3283318" y="4142949"/>
                  </a:lnTo>
                  <a:lnTo>
                    <a:pt x="3281184" y="4143376"/>
                  </a:lnTo>
                  <a:lnTo>
                    <a:pt x="3278987" y="4143376"/>
                  </a:lnTo>
                  <a:lnTo>
                    <a:pt x="16668" y="4143376"/>
                  </a:lnTo>
                  <a:lnTo>
                    <a:pt x="14456" y="4143376"/>
                  </a:lnTo>
                  <a:lnTo>
                    <a:pt x="12332" y="4142949"/>
                  </a:lnTo>
                  <a:lnTo>
                    <a:pt x="10289" y="4142106"/>
                  </a:lnTo>
                  <a:lnTo>
                    <a:pt x="8249" y="4141257"/>
                  </a:lnTo>
                  <a:lnTo>
                    <a:pt x="6443" y="4140052"/>
                  </a:lnTo>
                  <a:lnTo>
                    <a:pt x="4881" y="4138489"/>
                  </a:lnTo>
                  <a:lnTo>
                    <a:pt x="3318" y="4136927"/>
                  </a:lnTo>
                  <a:lnTo>
                    <a:pt x="2113" y="4135126"/>
                  </a:lnTo>
                  <a:lnTo>
                    <a:pt x="1270" y="4133081"/>
                  </a:lnTo>
                  <a:lnTo>
                    <a:pt x="421" y="4131043"/>
                  </a:lnTo>
                  <a:lnTo>
                    <a:pt x="0" y="4128914"/>
                  </a:lnTo>
                  <a:lnTo>
                    <a:pt x="0" y="4126707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87" y="2362212"/>
              <a:ext cx="3286125" cy="4133850"/>
            </a:xfrm>
            <a:custGeom>
              <a:avLst/>
              <a:gdLst/>
              <a:ahLst/>
              <a:cxnLst/>
              <a:rect l="l" t="t" r="r" b="b"/>
              <a:pathLst>
                <a:path w="3286125" h="4133850">
                  <a:moveTo>
                    <a:pt x="2295525" y="3362325"/>
                  </a:moveTo>
                  <a:lnTo>
                    <a:pt x="0" y="3362325"/>
                  </a:lnTo>
                  <a:lnTo>
                    <a:pt x="0" y="4118330"/>
                  </a:lnTo>
                  <a:lnTo>
                    <a:pt x="2095" y="4123385"/>
                  </a:lnTo>
                  <a:lnTo>
                    <a:pt x="10464" y="4131754"/>
                  </a:lnTo>
                  <a:lnTo>
                    <a:pt x="15519" y="4133850"/>
                  </a:lnTo>
                  <a:lnTo>
                    <a:pt x="2295525" y="4133850"/>
                  </a:lnTo>
                  <a:lnTo>
                    <a:pt x="2295525" y="3362325"/>
                  </a:lnTo>
                  <a:close/>
                </a:path>
                <a:path w="3286125" h="4133850">
                  <a:moveTo>
                    <a:pt x="2295525" y="0"/>
                  </a:moveTo>
                  <a:lnTo>
                    <a:pt x="15519" y="0"/>
                  </a:lnTo>
                  <a:lnTo>
                    <a:pt x="10464" y="2095"/>
                  </a:lnTo>
                  <a:lnTo>
                    <a:pt x="2095" y="10464"/>
                  </a:lnTo>
                  <a:lnTo>
                    <a:pt x="0" y="15519"/>
                  </a:lnTo>
                  <a:lnTo>
                    <a:pt x="0" y="1047750"/>
                  </a:lnTo>
                  <a:lnTo>
                    <a:pt x="2295525" y="1047750"/>
                  </a:lnTo>
                  <a:lnTo>
                    <a:pt x="2295525" y="0"/>
                  </a:lnTo>
                  <a:close/>
                </a:path>
                <a:path w="3286125" h="4133850">
                  <a:moveTo>
                    <a:pt x="3286125" y="3362325"/>
                  </a:moveTo>
                  <a:lnTo>
                    <a:pt x="2305050" y="3362325"/>
                  </a:lnTo>
                  <a:lnTo>
                    <a:pt x="2305050" y="4133850"/>
                  </a:lnTo>
                  <a:lnTo>
                    <a:pt x="3270618" y="4133850"/>
                  </a:lnTo>
                  <a:lnTo>
                    <a:pt x="3275660" y="4131754"/>
                  </a:lnTo>
                  <a:lnTo>
                    <a:pt x="3284029" y="4123385"/>
                  </a:lnTo>
                  <a:lnTo>
                    <a:pt x="3286125" y="4118330"/>
                  </a:lnTo>
                  <a:lnTo>
                    <a:pt x="3286125" y="3362325"/>
                  </a:lnTo>
                  <a:close/>
                </a:path>
                <a:path w="3286125" h="4133850">
                  <a:moveTo>
                    <a:pt x="3286125" y="15519"/>
                  </a:moveTo>
                  <a:lnTo>
                    <a:pt x="3284029" y="10464"/>
                  </a:lnTo>
                  <a:lnTo>
                    <a:pt x="3275660" y="2095"/>
                  </a:lnTo>
                  <a:lnTo>
                    <a:pt x="3270618" y="0"/>
                  </a:lnTo>
                  <a:lnTo>
                    <a:pt x="2305050" y="0"/>
                  </a:lnTo>
                  <a:lnTo>
                    <a:pt x="2305050" y="1047750"/>
                  </a:lnTo>
                  <a:lnTo>
                    <a:pt x="3286125" y="1047750"/>
                  </a:lnTo>
                  <a:lnTo>
                    <a:pt x="3286125" y="1551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8498" y="2482849"/>
            <a:ext cx="134239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60" dirty="0">
                <a:solidFill>
                  <a:srgbClr val="C9C9BF"/>
                </a:solidFill>
                <a:latin typeface="Tahoma"/>
                <a:cs typeface="Tahoma"/>
              </a:rPr>
              <a:t>Servicio</a:t>
            </a:r>
            <a:r>
              <a:rPr sz="1350" b="1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b="1" spc="-20" dirty="0">
                <a:solidFill>
                  <a:srgbClr val="C9C9BF"/>
                </a:solidFill>
                <a:latin typeface="Tahoma"/>
                <a:cs typeface="Tahoma"/>
              </a:rPr>
              <a:t>Azure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75934" y="2412364"/>
            <a:ext cx="53022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43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C9C9BF"/>
                </a:solidFill>
                <a:latin typeface="Tahoma"/>
                <a:cs typeface="Tahoma"/>
              </a:rPr>
              <a:t>Costo </a:t>
            </a: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Est.</a:t>
            </a:r>
            <a:r>
              <a:rPr sz="1350" b="1" spc="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C9C9BF"/>
                </a:solidFill>
                <a:latin typeface="Tahoma"/>
                <a:cs typeface="Tahoma"/>
              </a:rPr>
              <a:t>/ </a:t>
            </a:r>
            <a:r>
              <a:rPr sz="1350" b="1" spc="-25" dirty="0">
                <a:solidFill>
                  <a:srgbClr val="C9C9BF"/>
                </a:solidFill>
                <a:latin typeface="Tahoma"/>
                <a:cs typeface="Tahoma"/>
              </a:rPr>
              <a:t>Mes</a:t>
            </a:r>
            <a:endParaRPr sz="1350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09599" y="3409949"/>
          <a:ext cx="3285489" cy="2314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9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7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App</a:t>
                      </a:r>
                      <a:r>
                        <a:rPr sz="1350" spc="-4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8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Service</a:t>
                      </a:r>
                      <a:r>
                        <a:rPr sz="1350" spc="-4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(Plan</a:t>
                      </a:r>
                      <a:r>
                        <a:rPr sz="1350" spc="-4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B1)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1D1D1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308610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1350" spc="-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Q </a:t>
                      </a:r>
                      <a:r>
                        <a:rPr sz="1350" spc="8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95.00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62865" marB="0">
                    <a:lnL w="9525">
                      <a:solidFill>
                        <a:srgbClr val="1D1D1B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171450" marR="551180">
                        <a:lnSpc>
                          <a:spcPct val="129600"/>
                        </a:lnSpc>
                        <a:spcBef>
                          <a:spcPts val="645"/>
                        </a:spcBef>
                      </a:pPr>
                      <a:r>
                        <a:rPr sz="1350" spc="6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SQL</a:t>
                      </a:r>
                      <a:r>
                        <a:rPr sz="1350" spc="-114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6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Database</a:t>
                      </a:r>
                      <a:r>
                        <a:rPr sz="1350" spc="-11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-2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(DTU </a:t>
                      </a:r>
                      <a:r>
                        <a:rPr sz="1350" spc="6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Basic)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R w="9525">
                      <a:solidFill>
                        <a:srgbClr val="1D1D1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302895">
                        <a:lnSpc>
                          <a:spcPct val="129600"/>
                        </a:lnSpc>
                        <a:spcBef>
                          <a:spcPts val="645"/>
                        </a:spcBef>
                      </a:pPr>
                      <a:r>
                        <a:rPr sz="1350" spc="-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Q </a:t>
                      </a:r>
                      <a:r>
                        <a:rPr sz="1350" spc="95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60.00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81915" marB="0">
                    <a:lnL w="9525">
                      <a:solidFill>
                        <a:srgbClr val="1D1D1B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171450" marR="773430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sz="1350" spc="7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Blob</a:t>
                      </a:r>
                      <a:r>
                        <a:rPr sz="1350" spc="-12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350" spc="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Storage (Comprobantes)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R w="9525">
                      <a:solidFill>
                        <a:srgbClr val="1D1D1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307975">
                        <a:lnSpc>
                          <a:spcPct val="134300"/>
                        </a:lnSpc>
                        <a:spcBef>
                          <a:spcPts val="570"/>
                        </a:spcBef>
                      </a:pPr>
                      <a:r>
                        <a:rPr sz="1350" spc="-5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Q </a:t>
                      </a:r>
                      <a:r>
                        <a:rPr sz="1350" spc="90" dirty="0">
                          <a:solidFill>
                            <a:srgbClr val="C9C9BF"/>
                          </a:solidFill>
                          <a:latin typeface="Tahoma"/>
                          <a:cs typeface="Tahoma"/>
                        </a:rPr>
                        <a:t>30.00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T="72390" marB="0">
                    <a:lnL w="9525">
                      <a:solidFill>
                        <a:srgbClr val="1D1D1B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768498" y="5784214"/>
            <a:ext cx="186182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C9C9BF"/>
                </a:solidFill>
                <a:latin typeface="Tahoma"/>
                <a:cs typeface="Tahoma"/>
              </a:rPr>
              <a:t>Total</a:t>
            </a:r>
            <a:r>
              <a:rPr sz="1350" b="1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b="1" spc="-10" dirty="0">
                <a:solidFill>
                  <a:srgbClr val="C9C9BF"/>
                </a:solidFill>
                <a:latin typeface="Tahoma"/>
                <a:cs typeface="Tahoma"/>
              </a:rPr>
              <a:t>Infraestructura Cloud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75936" y="5784214"/>
            <a:ext cx="63373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b="1" spc="-50" dirty="0">
                <a:solidFill>
                  <a:srgbClr val="C9C9BF"/>
                </a:solidFill>
                <a:latin typeface="Tahoma"/>
                <a:cs typeface="Tahoma"/>
              </a:rPr>
              <a:t>Q </a:t>
            </a:r>
            <a:r>
              <a:rPr sz="1350" b="1" spc="-10" dirty="0">
                <a:solidFill>
                  <a:srgbClr val="C9C9BF"/>
                </a:solidFill>
                <a:latin typeface="Tahoma"/>
                <a:cs typeface="Tahoma"/>
              </a:rPr>
              <a:t>210.00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5284" y="2257424"/>
            <a:ext cx="6684165" cy="57943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A4A74-F422-F405-C4E6-F588E5A84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BA4B37B3-5D1D-FC52-E41F-A4EECFF2DB67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8FB2580-882B-AF6B-6FC0-E7D6CEE90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289259"/>
            <a:ext cx="9718676" cy="104708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lang="es-GT" dirty="0"/>
              <a:t>Comparación de Aplicaciones de Transporte Escolar</a:t>
            </a:r>
            <a:endParaRPr spc="-80" dirty="0">
              <a:solidFill>
                <a:srgbClr val="ECECE7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DF3E5F-A730-40E7-E43B-6596C5321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6341"/>
            <a:ext cx="10023476" cy="732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628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901700"/>
            <a:ext cx="5732780" cy="106870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pc="80" dirty="0">
                <a:solidFill>
                  <a:srgbClr val="ECECE7"/>
                </a:solidFill>
              </a:rPr>
              <a:t>Especificación</a:t>
            </a:r>
            <a:r>
              <a:rPr spc="-155" dirty="0">
                <a:solidFill>
                  <a:srgbClr val="ECECE7"/>
                </a:solidFill>
              </a:rPr>
              <a:t> </a:t>
            </a:r>
            <a:r>
              <a:rPr spc="105" dirty="0">
                <a:solidFill>
                  <a:srgbClr val="ECECE7"/>
                </a:solidFill>
              </a:rPr>
              <a:t>Económica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650" spc="-40" dirty="0">
                <a:solidFill>
                  <a:srgbClr val="ECECE7"/>
                </a:solidFill>
              </a:rPr>
              <a:t>Tarifa</a:t>
            </a:r>
            <a:r>
              <a:rPr sz="1650" spc="40" dirty="0">
                <a:solidFill>
                  <a:srgbClr val="ECECE7"/>
                </a:solidFill>
              </a:rPr>
              <a:t> </a:t>
            </a:r>
            <a:r>
              <a:rPr sz="1650" spc="55" dirty="0">
                <a:solidFill>
                  <a:srgbClr val="ECECE7"/>
                </a:solidFill>
              </a:rPr>
              <a:t>de</a:t>
            </a:r>
            <a:r>
              <a:rPr sz="1650" spc="40" dirty="0">
                <a:solidFill>
                  <a:srgbClr val="ECECE7"/>
                </a:solidFill>
              </a:rPr>
              <a:t> </a:t>
            </a:r>
            <a:r>
              <a:rPr sz="1650" dirty="0">
                <a:solidFill>
                  <a:srgbClr val="ECECE7"/>
                </a:solidFill>
              </a:rPr>
              <a:t>Consultoría</a:t>
            </a:r>
            <a:r>
              <a:rPr sz="1650" spc="40" dirty="0">
                <a:solidFill>
                  <a:srgbClr val="ECECE7"/>
                </a:solidFill>
              </a:rPr>
              <a:t> </a:t>
            </a:r>
            <a:r>
              <a:rPr sz="1650" spc="-25" dirty="0">
                <a:solidFill>
                  <a:srgbClr val="ECECE7"/>
                </a:solidFill>
              </a:rPr>
              <a:t>TI</a:t>
            </a:r>
            <a:endParaRPr sz="1650"/>
          </a:p>
        </p:txBody>
      </p:sp>
      <p:sp>
        <p:nvSpPr>
          <p:cNvPr id="4" name="object 4"/>
          <p:cNvSpPr txBox="1"/>
          <p:nvPr/>
        </p:nvSpPr>
        <p:spPr>
          <a:xfrm>
            <a:off x="587374" y="2235200"/>
            <a:ext cx="79070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Facturación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profesional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basada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en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costos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mercado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con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margen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utilidad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del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30%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integrado.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6249" y="2686049"/>
            <a:ext cx="5153025" cy="2667000"/>
          </a:xfrm>
          <a:custGeom>
            <a:avLst/>
            <a:gdLst/>
            <a:ahLst/>
            <a:cxnLst/>
            <a:rect l="l" t="t" r="r" b="b"/>
            <a:pathLst>
              <a:path w="5153025" h="2667000">
                <a:moveTo>
                  <a:pt x="5134435" y="2666999"/>
                </a:moveTo>
                <a:lnTo>
                  <a:pt x="18589" y="2666999"/>
                </a:lnTo>
                <a:lnTo>
                  <a:pt x="15855" y="2666456"/>
                </a:lnTo>
                <a:lnTo>
                  <a:pt x="0" y="2648410"/>
                </a:lnTo>
                <a:lnTo>
                  <a:pt x="0" y="2645568"/>
                </a:lnTo>
                <a:lnTo>
                  <a:pt x="0" y="18589"/>
                </a:lnTo>
                <a:lnTo>
                  <a:pt x="18589" y="0"/>
                </a:lnTo>
                <a:lnTo>
                  <a:pt x="5134435" y="0"/>
                </a:lnTo>
                <a:lnTo>
                  <a:pt x="5153024" y="18589"/>
                </a:lnTo>
                <a:lnTo>
                  <a:pt x="5153024" y="2648410"/>
                </a:lnTo>
                <a:lnTo>
                  <a:pt x="5137168" y="2666456"/>
                </a:lnTo>
                <a:lnTo>
                  <a:pt x="5134435" y="2666999"/>
                </a:lnTo>
                <a:close/>
              </a:path>
            </a:pathLst>
          </a:custGeom>
          <a:solidFill>
            <a:srgbClr val="1F1F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35446" y="2849562"/>
            <a:ext cx="2743835" cy="693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Costo</a:t>
            </a:r>
            <a:r>
              <a:rPr sz="1650" b="1" spc="9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CECE7"/>
                </a:solidFill>
                <a:latin typeface="Tahoma"/>
                <a:cs typeface="Tahoma"/>
              </a:rPr>
              <a:t>Hora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Costo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Base: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$15.00</a:t>
            </a:r>
            <a:r>
              <a:rPr sz="1350" spc="-1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55" dirty="0">
                <a:solidFill>
                  <a:srgbClr val="C8C8BF"/>
                </a:solidFill>
                <a:latin typeface="Tahoma"/>
                <a:cs typeface="Tahoma"/>
              </a:rPr>
              <a:t>+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Profit:</a:t>
            </a:r>
            <a:r>
              <a:rPr sz="1350" spc="-1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$6.45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446" y="3730625"/>
            <a:ext cx="319595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ECECE7"/>
                </a:solidFill>
                <a:latin typeface="Tahoma"/>
                <a:cs typeface="Tahoma"/>
              </a:rPr>
              <a:t>USD</a:t>
            </a:r>
            <a:r>
              <a:rPr sz="2000" b="1" spc="-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ECECE7"/>
                </a:solidFill>
                <a:latin typeface="Tahoma"/>
                <a:cs typeface="Tahoma"/>
              </a:rPr>
              <a:t>$21.45</a:t>
            </a:r>
            <a:r>
              <a:rPr sz="2000" b="1" spc="-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2000" b="1" spc="-135" dirty="0">
                <a:solidFill>
                  <a:srgbClr val="ECECE7"/>
                </a:solidFill>
                <a:latin typeface="Tahoma"/>
                <a:cs typeface="Tahoma"/>
              </a:rPr>
              <a:t>/</a:t>
            </a:r>
            <a:r>
              <a:rPr sz="2000" b="1" spc="-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ECECE7"/>
                </a:solidFill>
                <a:latin typeface="Tahoma"/>
                <a:cs typeface="Tahoma"/>
              </a:rPr>
              <a:t>hora</a:t>
            </a:r>
            <a:endParaRPr sz="2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5"/>
              </a:spcBef>
            </a:pP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Total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Esfuerzo: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275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Horas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Ingeniería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62649" y="3409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2649" y="37433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2649" y="4076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3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3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3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20928" y="2849562"/>
            <a:ext cx="3723640" cy="1360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10" dirty="0">
                <a:solidFill>
                  <a:srgbClr val="ECECE7"/>
                </a:solidFill>
                <a:latin typeface="Tahoma"/>
                <a:cs typeface="Tahoma"/>
              </a:rPr>
              <a:t>Presupuesto</a:t>
            </a:r>
            <a:r>
              <a:rPr sz="1650" b="1" spc="10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de</a:t>
            </a:r>
            <a:r>
              <a:rPr sz="1650" b="1" spc="10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CECE7"/>
                </a:solidFill>
                <a:latin typeface="Tahoma"/>
                <a:cs typeface="Tahoma"/>
              </a:rPr>
              <a:t>Desarrollo</a:t>
            </a:r>
            <a:endParaRPr sz="1650" dirty="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  <a:spcBef>
                <a:spcPts val="615"/>
              </a:spcBef>
            </a:pP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Ingeniería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QA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(275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hrs):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Q.46,000.00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Implantación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Capacitación:</a:t>
            </a:r>
            <a:r>
              <a:rPr sz="1350" spc="-10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Q.1,450.00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Soporte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Preventivo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(6</a:t>
            </a:r>
            <a:r>
              <a:rPr sz="1350" spc="-11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meses):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0" dirty="0">
                <a:solidFill>
                  <a:srgbClr val="C8C8BF"/>
                </a:solidFill>
                <a:latin typeface="Tahoma"/>
                <a:cs typeface="Tahoma"/>
              </a:rPr>
              <a:t>Q.</a:t>
            </a:r>
            <a:r>
              <a:rPr lang="es-GT" sz="1350" spc="40" dirty="0">
                <a:solidFill>
                  <a:srgbClr val="C8C8BF"/>
                </a:solidFill>
                <a:latin typeface="Tahoma"/>
                <a:cs typeface="Tahoma"/>
              </a:rPr>
              <a:t>1</a:t>
            </a:r>
            <a:r>
              <a:rPr sz="1350" spc="40" dirty="0">
                <a:solidFill>
                  <a:srgbClr val="C8C8BF"/>
                </a:solidFill>
                <a:latin typeface="Tahoma"/>
                <a:cs typeface="Tahoma"/>
              </a:rPr>
              <a:t>,500.00</a:t>
            </a:r>
            <a:endParaRPr sz="1350" dirty="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934073" y="4429124"/>
            <a:ext cx="4905375" cy="733425"/>
            <a:chOff x="5934073" y="4429124"/>
            <a:chExt cx="4905375" cy="733425"/>
          </a:xfrm>
        </p:grpSpPr>
        <p:sp>
          <p:nvSpPr>
            <p:cNvPr id="13" name="object 13"/>
            <p:cNvSpPr/>
            <p:nvPr/>
          </p:nvSpPr>
          <p:spPr>
            <a:xfrm>
              <a:off x="5934073" y="4429124"/>
              <a:ext cx="4905375" cy="733425"/>
            </a:xfrm>
            <a:custGeom>
              <a:avLst/>
              <a:gdLst/>
              <a:ahLst/>
              <a:cxnLst/>
              <a:rect l="l" t="t" r="r" b="b"/>
              <a:pathLst>
                <a:path w="4905375" h="733425">
                  <a:moveTo>
                    <a:pt x="4886785" y="733424"/>
                  </a:moveTo>
                  <a:lnTo>
                    <a:pt x="18589" y="733424"/>
                  </a:lnTo>
                  <a:lnTo>
                    <a:pt x="15855" y="732880"/>
                  </a:lnTo>
                  <a:lnTo>
                    <a:pt x="0" y="714835"/>
                  </a:lnTo>
                  <a:lnTo>
                    <a:pt x="0" y="711993"/>
                  </a:lnTo>
                  <a:lnTo>
                    <a:pt x="0" y="18588"/>
                  </a:lnTo>
                  <a:lnTo>
                    <a:pt x="18589" y="0"/>
                  </a:lnTo>
                  <a:lnTo>
                    <a:pt x="4886785" y="0"/>
                  </a:lnTo>
                  <a:lnTo>
                    <a:pt x="4905375" y="18588"/>
                  </a:lnTo>
                  <a:lnTo>
                    <a:pt x="4905375" y="714835"/>
                  </a:lnTo>
                  <a:lnTo>
                    <a:pt x="4889519" y="732880"/>
                  </a:lnTo>
                  <a:lnTo>
                    <a:pt x="4886785" y="733424"/>
                  </a:lnTo>
                  <a:close/>
                </a:path>
              </a:pathLst>
            </a:custGeom>
            <a:solidFill>
              <a:srgbClr val="0123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6956" y="4695824"/>
              <a:ext cx="171449" cy="171449"/>
            </a:xfrm>
            <a:prstGeom prst="rect">
              <a:avLst/>
            </a:prstGeom>
          </p:spPr>
        </p:pic>
      </p:grpSp>
      <p:pic>
        <p:nvPicPr>
          <p:cNvPr id="22" name="Imagen 21">
            <a:extLst>
              <a:ext uri="{FF2B5EF4-FFF2-40B4-BE49-F238E27FC236}">
                <a16:creationId xmlns:a16="http://schemas.microsoft.com/office/drawing/2014/main" id="{2EFAD306-3AAA-DDB4-5843-A3706C36A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02" y="4656454"/>
            <a:ext cx="5807898" cy="402457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478140" y="4664074"/>
            <a:ext cx="319087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0" dirty="0">
                <a:solidFill>
                  <a:srgbClr val="FFFFFF"/>
                </a:solidFill>
                <a:latin typeface="Tahoma"/>
                <a:cs typeface="Tahoma"/>
              </a:rPr>
              <a:t>Total</a:t>
            </a:r>
            <a:r>
              <a:rPr sz="13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Inversión</a:t>
            </a:r>
            <a:r>
              <a:rPr sz="13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Inicial:</a:t>
            </a:r>
            <a:r>
              <a:rPr sz="135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Q.</a:t>
            </a:r>
            <a:r>
              <a:rPr lang="es-GT" sz="1350" b="1" spc="35" dirty="0">
                <a:solidFill>
                  <a:srgbClr val="FFFFFF"/>
                </a:solidFill>
                <a:latin typeface="Tahoma"/>
                <a:cs typeface="Tahoma"/>
              </a:rPr>
              <a:t>48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,950.00</a:t>
            </a:r>
            <a:endParaRPr sz="13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A38AE312-459D-3A8F-BB75-89489A3CFEB6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349375"/>
            <a:ext cx="560578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ECECE7"/>
                </a:solidFill>
              </a:rPr>
              <a:t>Plan</a:t>
            </a:r>
            <a:r>
              <a:rPr spc="-130" dirty="0">
                <a:solidFill>
                  <a:srgbClr val="ECECE7"/>
                </a:solidFill>
              </a:rPr>
              <a:t> </a:t>
            </a:r>
            <a:r>
              <a:rPr spc="70" dirty="0">
                <a:solidFill>
                  <a:srgbClr val="ECECE7"/>
                </a:solidFill>
              </a:rPr>
              <a:t>de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spc="100" dirty="0">
                <a:solidFill>
                  <a:srgbClr val="ECECE7"/>
                </a:solidFill>
              </a:rPr>
              <a:t>Suscripción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spc="170" dirty="0">
                <a:solidFill>
                  <a:srgbClr val="ECECE7"/>
                </a:solidFill>
              </a:rPr>
              <a:t>y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spc="-80" dirty="0">
                <a:solidFill>
                  <a:srgbClr val="ECECE7"/>
                </a:solidFill>
              </a:rPr>
              <a:t>ROI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4" y="3495674"/>
            <a:ext cx="4905375" cy="733425"/>
            <a:chOff x="600074" y="3495674"/>
            <a:chExt cx="4905375" cy="733425"/>
          </a:xfrm>
        </p:grpSpPr>
        <p:sp>
          <p:nvSpPr>
            <p:cNvPr id="4" name="object 4"/>
            <p:cNvSpPr/>
            <p:nvPr/>
          </p:nvSpPr>
          <p:spPr>
            <a:xfrm>
              <a:off x="600074" y="3495674"/>
              <a:ext cx="4905375" cy="733425"/>
            </a:xfrm>
            <a:custGeom>
              <a:avLst/>
              <a:gdLst/>
              <a:ahLst/>
              <a:cxnLst/>
              <a:rect l="l" t="t" r="r" b="b"/>
              <a:pathLst>
                <a:path w="4905375" h="733425">
                  <a:moveTo>
                    <a:pt x="4886785" y="733424"/>
                  </a:moveTo>
                  <a:lnTo>
                    <a:pt x="18589" y="733424"/>
                  </a:lnTo>
                  <a:lnTo>
                    <a:pt x="15855" y="732880"/>
                  </a:lnTo>
                  <a:lnTo>
                    <a:pt x="0" y="714835"/>
                  </a:lnTo>
                  <a:lnTo>
                    <a:pt x="0" y="711993"/>
                  </a:lnTo>
                  <a:lnTo>
                    <a:pt x="0" y="18589"/>
                  </a:lnTo>
                  <a:lnTo>
                    <a:pt x="18589" y="0"/>
                  </a:lnTo>
                  <a:lnTo>
                    <a:pt x="4886785" y="0"/>
                  </a:lnTo>
                  <a:lnTo>
                    <a:pt x="4905374" y="18589"/>
                  </a:lnTo>
                  <a:lnTo>
                    <a:pt x="4905374" y="714835"/>
                  </a:lnTo>
                  <a:lnTo>
                    <a:pt x="4889518" y="732880"/>
                  </a:lnTo>
                  <a:lnTo>
                    <a:pt x="4886785" y="733424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2956" y="3762374"/>
              <a:ext cx="171449" cy="17144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28649" y="45338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649" y="48672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C8C8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7374" y="2306637"/>
            <a:ext cx="4295140" cy="2693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ECECE7"/>
                </a:solidFill>
                <a:latin typeface="Tahoma"/>
                <a:cs typeface="Tahoma"/>
              </a:rPr>
              <a:t>Suscripción</a:t>
            </a:r>
            <a:r>
              <a:rPr sz="1650" b="1" spc="-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por 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Alumno</a:t>
            </a:r>
            <a:endParaRPr sz="1650">
              <a:latin typeface="Tahoma"/>
              <a:cs typeface="Tahoma"/>
            </a:endParaRPr>
          </a:p>
          <a:p>
            <a:pPr marL="12700" marR="67945">
              <a:lnSpc>
                <a:spcPct val="134300"/>
              </a:lnSpc>
              <a:spcBef>
                <a:spcPts val="1065"/>
              </a:spcBef>
            </a:pP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Modelo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8C8BF"/>
                </a:solidFill>
                <a:latin typeface="Tahoma"/>
                <a:cs typeface="Tahoma"/>
              </a:rPr>
              <a:t>SaaS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diseñado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para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ser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absorbido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forma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transparente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por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servicio</a:t>
            </a:r>
            <a:r>
              <a:rPr sz="1350" spc="-9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C8C8BF"/>
                </a:solidFill>
                <a:latin typeface="Tahoma"/>
                <a:cs typeface="Tahoma"/>
              </a:rPr>
              <a:t>bus.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350">
              <a:latin typeface="Tahoma"/>
              <a:cs typeface="Tahoma"/>
            </a:endParaRPr>
          </a:p>
          <a:p>
            <a:pPr marL="569595">
              <a:lnSpc>
                <a:spcPct val="100000"/>
              </a:lnSpc>
            </a:pP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Q.68.00</a:t>
            </a:r>
            <a:r>
              <a:rPr sz="13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POR</a:t>
            </a:r>
            <a:r>
              <a:rPr sz="13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dirty="0">
                <a:solidFill>
                  <a:srgbClr val="FFFFFF"/>
                </a:solidFill>
                <a:latin typeface="Tahoma"/>
                <a:cs typeface="Tahoma"/>
              </a:rPr>
              <a:t>ALUMNO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-50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35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b="1" spc="35" dirty="0">
                <a:solidFill>
                  <a:srgbClr val="FFFFFF"/>
                </a:solidFill>
                <a:latin typeface="Tahoma"/>
                <a:cs typeface="Tahoma"/>
              </a:rPr>
              <a:t>MENSUAL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95"/>
              </a:spcBef>
            </a:pPr>
            <a:endParaRPr sz="1350">
              <a:latin typeface="Tahoma"/>
              <a:cs typeface="Tahoma"/>
            </a:endParaRPr>
          </a:p>
          <a:p>
            <a:pPr marL="286385" marR="5080">
              <a:lnSpc>
                <a:spcPct val="162000"/>
              </a:lnSpc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Cero</a:t>
            </a:r>
            <a:r>
              <a:rPr sz="1350" spc="-10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mantenimiento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técnico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para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el</a:t>
            </a:r>
            <a:r>
              <a:rPr sz="1350" spc="-9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colegio. </a:t>
            </a:r>
            <a:r>
              <a:rPr sz="1350" spc="65" dirty="0">
                <a:solidFill>
                  <a:srgbClr val="C8C8BF"/>
                </a:solidFill>
                <a:latin typeface="Tahoma"/>
                <a:cs typeface="Tahoma"/>
              </a:rPr>
              <a:t>Cubre</a:t>
            </a:r>
            <a:r>
              <a:rPr sz="1350" spc="-1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infraestructura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de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8C8BF"/>
                </a:solidFill>
                <a:latin typeface="Tahoma"/>
                <a:cs typeface="Tahoma"/>
              </a:rPr>
              <a:t>Azure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y</a:t>
            </a:r>
            <a:r>
              <a:rPr sz="1350" spc="-114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45" dirty="0">
                <a:solidFill>
                  <a:srgbClr val="C8C8BF"/>
                </a:solidFill>
                <a:latin typeface="Tahoma"/>
                <a:cs typeface="Tahoma"/>
              </a:rPr>
              <a:t>actualizaciones.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0928" y="2306637"/>
            <a:ext cx="268668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Cálculo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 de</a:t>
            </a:r>
            <a:r>
              <a:rPr sz="1650" b="1" spc="60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CECE7"/>
                </a:solidFill>
                <a:latin typeface="Tahoma"/>
                <a:cs typeface="Tahoma"/>
              </a:rPr>
              <a:t>Retorno</a:t>
            </a:r>
            <a:r>
              <a:rPr sz="1650" b="1" spc="55" dirty="0">
                <a:solidFill>
                  <a:srgbClr val="ECECE7"/>
                </a:solidFill>
                <a:latin typeface="Tahoma"/>
                <a:cs typeface="Tahoma"/>
              </a:rPr>
              <a:t> </a:t>
            </a:r>
            <a:r>
              <a:rPr sz="1650" b="1" spc="-50" dirty="0">
                <a:solidFill>
                  <a:srgbClr val="ECECE7"/>
                </a:solidFill>
                <a:latin typeface="Tahoma"/>
                <a:cs typeface="Tahoma"/>
              </a:rPr>
              <a:t>(ROI)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34073" y="2781299"/>
            <a:ext cx="2362200" cy="1600200"/>
          </a:xfrm>
          <a:custGeom>
            <a:avLst/>
            <a:gdLst/>
            <a:ahLst/>
            <a:cxnLst/>
            <a:rect l="l" t="t" r="r" b="b"/>
            <a:pathLst>
              <a:path w="2362200" h="1600200">
                <a:moveTo>
                  <a:pt x="2343610" y="1600199"/>
                </a:moveTo>
                <a:lnTo>
                  <a:pt x="18589" y="1600199"/>
                </a:lnTo>
                <a:lnTo>
                  <a:pt x="15855" y="1599655"/>
                </a:lnTo>
                <a:lnTo>
                  <a:pt x="0" y="1581610"/>
                </a:lnTo>
                <a:lnTo>
                  <a:pt x="0" y="1578768"/>
                </a:lnTo>
                <a:lnTo>
                  <a:pt x="0" y="18588"/>
                </a:lnTo>
                <a:lnTo>
                  <a:pt x="18589" y="0"/>
                </a:lnTo>
                <a:lnTo>
                  <a:pt x="2343610" y="0"/>
                </a:lnTo>
                <a:lnTo>
                  <a:pt x="2362199" y="18588"/>
                </a:lnTo>
                <a:lnTo>
                  <a:pt x="2362199" y="1581610"/>
                </a:lnTo>
                <a:lnTo>
                  <a:pt x="2346344" y="1599655"/>
                </a:lnTo>
                <a:lnTo>
                  <a:pt x="2343610" y="1600199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92378" y="2944812"/>
            <a:ext cx="1943100" cy="147630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0" dirty="0">
                <a:solidFill>
                  <a:srgbClr val="C8C8BF"/>
                </a:solidFill>
                <a:latin typeface="Tahoma"/>
                <a:cs typeface="Tahoma"/>
              </a:rPr>
              <a:t>1</a:t>
            </a:r>
            <a:r>
              <a:rPr lang="es-GT" sz="1650" b="1" spc="-100" dirty="0">
                <a:solidFill>
                  <a:srgbClr val="C8C8BF"/>
                </a:solidFill>
                <a:latin typeface="Tahoma"/>
                <a:cs typeface="Tahoma"/>
              </a:rPr>
              <a:t>6</a:t>
            </a:r>
            <a:r>
              <a:rPr sz="1650" b="1" spc="-7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650" b="1" spc="80" dirty="0">
                <a:solidFill>
                  <a:srgbClr val="C8C8BF"/>
                </a:solidFill>
                <a:latin typeface="Tahoma"/>
                <a:cs typeface="Tahoma"/>
              </a:rPr>
              <a:t>meses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1105"/>
              </a:spcBef>
            </a:pP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Para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8C8BF"/>
                </a:solidFill>
                <a:latin typeface="Tahoma"/>
                <a:cs typeface="Tahoma"/>
              </a:rPr>
              <a:t>recuperación</a:t>
            </a:r>
            <a:r>
              <a:rPr sz="1350" spc="-4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total.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Base:</a:t>
            </a:r>
            <a:r>
              <a:rPr sz="1350" spc="1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75</a:t>
            </a:r>
            <a:r>
              <a:rPr sz="1350" spc="2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8C8BF"/>
                </a:solidFill>
                <a:latin typeface="Tahoma"/>
                <a:cs typeface="Tahoma"/>
              </a:rPr>
              <a:t>alumnos </a:t>
            </a:r>
            <a:r>
              <a:rPr sz="1350" spc="-10" dirty="0" err="1">
                <a:solidFill>
                  <a:srgbClr val="C8C8BF"/>
                </a:solidFill>
                <a:latin typeface="Tahoma"/>
                <a:cs typeface="Tahoma"/>
              </a:rPr>
              <a:t>activos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.</a:t>
            </a:r>
            <a:r>
              <a:rPr lang="es-GT" sz="1350" spc="-10" dirty="0">
                <a:solidFill>
                  <a:srgbClr val="C8C8BF"/>
                </a:solidFill>
                <a:latin typeface="Tahoma"/>
                <a:cs typeface="Tahoma"/>
              </a:rPr>
              <a:t> E ir agregando 2 colegios al año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67723" y="2781299"/>
            <a:ext cx="2371725" cy="1600200"/>
          </a:xfrm>
          <a:custGeom>
            <a:avLst/>
            <a:gdLst/>
            <a:ahLst/>
            <a:cxnLst/>
            <a:rect l="l" t="t" r="r" b="b"/>
            <a:pathLst>
              <a:path w="2371725" h="1600200">
                <a:moveTo>
                  <a:pt x="2353135" y="1600199"/>
                </a:moveTo>
                <a:lnTo>
                  <a:pt x="18589" y="1600199"/>
                </a:lnTo>
                <a:lnTo>
                  <a:pt x="15855" y="1599655"/>
                </a:lnTo>
                <a:lnTo>
                  <a:pt x="0" y="1581610"/>
                </a:lnTo>
                <a:lnTo>
                  <a:pt x="0" y="1578768"/>
                </a:lnTo>
                <a:lnTo>
                  <a:pt x="0" y="18588"/>
                </a:lnTo>
                <a:lnTo>
                  <a:pt x="18589" y="0"/>
                </a:lnTo>
                <a:lnTo>
                  <a:pt x="2353135" y="0"/>
                </a:lnTo>
                <a:lnTo>
                  <a:pt x="2371725" y="18588"/>
                </a:lnTo>
                <a:lnTo>
                  <a:pt x="2371725" y="1581610"/>
                </a:lnTo>
                <a:lnTo>
                  <a:pt x="2355869" y="1599655"/>
                </a:lnTo>
                <a:lnTo>
                  <a:pt x="2353135" y="1600199"/>
                </a:lnTo>
                <a:close/>
              </a:path>
            </a:pathLst>
          </a:custGeom>
          <a:solidFill>
            <a:srgbClr val="3C3C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630939" y="2944812"/>
            <a:ext cx="1878964" cy="1236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35" dirty="0">
                <a:solidFill>
                  <a:srgbClr val="C8C8BF"/>
                </a:solidFill>
                <a:latin typeface="Tahoma"/>
                <a:cs typeface="Tahoma"/>
              </a:rPr>
              <a:t>Q.4,890.00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1140"/>
              </a:spcBef>
            </a:pPr>
            <a:r>
              <a:rPr sz="1350" spc="75" dirty="0">
                <a:solidFill>
                  <a:srgbClr val="C8C8BF"/>
                </a:solidFill>
                <a:latin typeface="Tahoma"/>
                <a:cs typeface="Tahoma"/>
              </a:rPr>
              <a:t>Ingreso</a:t>
            </a:r>
            <a:r>
              <a:rPr sz="1350" spc="-12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neto</a:t>
            </a:r>
            <a:r>
              <a:rPr sz="1350" spc="-12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mensual: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Q.5,100</a:t>
            </a:r>
            <a:r>
              <a:rPr sz="1350" spc="-5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(bruto)</a:t>
            </a:r>
            <a:r>
              <a:rPr sz="1350" spc="-5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55" dirty="0">
                <a:solidFill>
                  <a:srgbClr val="C8C8BF"/>
                </a:solidFill>
                <a:latin typeface="Tahoma"/>
                <a:cs typeface="Tahoma"/>
              </a:rPr>
              <a:t>−</a:t>
            </a:r>
            <a:r>
              <a:rPr sz="1350" spc="-4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Q.210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(Azure).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20928" y="4587875"/>
            <a:ext cx="39084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55" dirty="0">
                <a:solidFill>
                  <a:srgbClr val="C8C8BF"/>
                </a:solidFill>
                <a:latin typeface="Tahoma"/>
                <a:cs typeface="Tahoma"/>
              </a:rPr>
              <a:t>(Inversión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Inicial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Q.48,950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8C8BF"/>
                </a:solidFill>
                <a:latin typeface="Tahoma"/>
                <a:cs typeface="Tahoma"/>
              </a:rPr>
              <a:t>/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8C8BF"/>
                </a:solidFill>
                <a:latin typeface="Tahoma"/>
                <a:cs typeface="Tahoma"/>
              </a:rPr>
              <a:t>Flujo</a:t>
            </a:r>
            <a:r>
              <a:rPr sz="1350" spc="-65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8C8BF"/>
                </a:solidFill>
                <a:latin typeface="Tahoma"/>
                <a:cs typeface="Tahoma"/>
              </a:rPr>
              <a:t>Neto</a:t>
            </a:r>
            <a:r>
              <a:rPr sz="1350" spc="-70" dirty="0">
                <a:solidFill>
                  <a:srgbClr val="C8C8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8C8BF"/>
                </a:solidFill>
                <a:latin typeface="Tahoma"/>
                <a:cs typeface="Tahoma"/>
              </a:rPr>
              <a:t>Q.4,890)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2553-14AE-A6AA-14FF-05A4362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2">
            <a:extLst>
              <a:ext uri="{FF2B5EF4-FFF2-40B4-BE49-F238E27FC236}">
                <a16:creationId xmlns:a16="http://schemas.microsoft.com/office/drawing/2014/main" id="{3F25BD8D-9870-9308-5A95-CEA3D4DFCC21}"/>
              </a:ext>
            </a:extLst>
          </p:cNvPr>
          <p:cNvSpPr/>
          <p:nvPr/>
        </p:nvSpPr>
        <p:spPr>
          <a:xfrm>
            <a:off x="0" y="0"/>
            <a:ext cx="11430000" cy="87884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C1C1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D716AD2-99FE-2AF2-3E4D-B249DEE54F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355600"/>
            <a:ext cx="9718676" cy="104708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GT" dirty="0">
                <a:solidFill>
                  <a:srgbClr val="ECECE7"/>
                </a:solidFill>
              </a:rPr>
              <a:t>Grafica de recuperación </a:t>
            </a:r>
            <a:r>
              <a:rPr spc="70" dirty="0">
                <a:solidFill>
                  <a:srgbClr val="ECECE7"/>
                </a:solidFill>
              </a:rPr>
              <a:t>de</a:t>
            </a:r>
            <a:r>
              <a:rPr spc="-125" dirty="0">
                <a:solidFill>
                  <a:srgbClr val="ECECE7"/>
                </a:solidFill>
              </a:rPr>
              <a:t> </a:t>
            </a:r>
            <a:r>
              <a:rPr lang="es-GT" spc="-125" dirty="0">
                <a:solidFill>
                  <a:srgbClr val="ECECE7"/>
                </a:solidFill>
              </a:rPr>
              <a:t>la inversión según la s</a:t>
            </a:r>
            <a:r>
              <a:rPr spc="100" dirty="0" err="1">
                <a:solidFill>
                  <a:srgbClr val="ECECE7"/>
                </a:solidFill>
              </a:rPr>
              <a:t>uscripción</a:t>
            </a:r>
            <a:r>
              <a:rPr spc="-125" dirty="0">
                <a:solidFill>
                  <a:srgbClr val="ECECE7"/>
                </a:solidFill>
              </a:rPr>
              <a:t> </a:t>
            </a:r>
            <a:endParaRPr spc="-80" dirty="0">
              <a:solidFill>
                <a:srgbClr val="ECECE7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693F321-AEF5-4855-5B58-341BBD2BB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9137"/>
            <a:ext cx="97536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498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788147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854778" cy="878789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spc="80" dirty="0"/>
              <a:t>Análisis</a:t>
            </a:r>
            <a:r>
              <a:rPr spc="-175" dirty="0"/>
              <a:t> </a:t>
            </a:r>
            <a:r>
              <a:rPr spc="60" dirty="0"/>
              <a:t>de</a:t>
            </a:r>
            <a:r>
              <a:rPr spc="-170" dirty="0"/>
              <a:t> </a:t>
            </a:r>
            <a:r>
              <a:rPr spc="65" dirty="0"/>
              <a:t>Riesgos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67275" y="1266824"/>
            <a:ext cx="5962650" cy="1685925"/>
            <a:chOff x="4867275" y="1266824"/>
            <a:chExt cx="5962650" cy="1685925"/>
          </a:xfrm>
        </p:grpSpPr>
        <p:sp>
          <p:nvSpPr>
            <p:cNvPr id="6" name="object 6"/>
            <p:cNvSpPr/>
            <p:nvPr/>
          </p:nvSpPr>
          <p:spPr>
            <a:xfrm>
              <a:off x="4886325" y="1276349"/>
              <a:ext cx="5934075" cy="1666875"/>
            </a:xfrm>
            <a:custGeom>
              <a:avLst/>
              <a:gdLst/>
              <a:ahLst/>
              <a:cxnLst/>
              <a:rect l="l" t="t" r="r" b="b"/>
              <a:pathLst>
                <a:path w="5934075" h="1666875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00200"/>
                  </a:lnTo>
                  <a:lnTo>
                    <a:pt x="0" y="1604581"/>
                  </a:lnTo>
                  <a:lnTo>
                    <a:pt x="15621" y="1640878"/>
                  </a:lnTo>
                  <a:lnTo>
                    <a:pt x="51663" y="1663471"/>
                  </a:lnTo>
                  <a:lnTo>
                    <a:pt x="71196" y="1666875"/>
                  </a:lnTo>
                  <a:lnTo>
                    <a:pt x="5925451" y="1666875"/>
                  </a:lnTo>
                  <a:lnTo>
                    <a:pt x="5928258" y="1665706"/>
                  </a:lnTo>
                  <a:lnTo>
                    <a:pt x="5932906" y="1661058"/>
                  </a:lnTo>
                  <a:lnTo>
                    <a:pt x="5934075" y="1658251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87163" y="1266837"/>
              <a:ext cx="5942965" cy="1685925"/>
            </a:xfrm>
            <a:custGeom>
              <a:avLst/>
              <a:gdLst/>
              <a:ahLst/>
              <a:cxnLst/>
              <a:rect l="l" t="t" r="r" b="b"/>
              <a:pathLst>
                <a:path w="5942965" h="1685925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66087"/>
                  </a:lnTo>
                  <a:lnTo>
                    <a:pt x="5923305" y="1666481"/>
                  </a:lnTo>
                  <a:lnTo>
                    <a:pt x="5922911" y="1666875"/>
                  </a:lnTo>
                  <a:lnTo>
                    <a:pt x="75349" y="1666875"/>
                  </a:lnTo>
                  <a:lnTo>
                    <a:pt x="67843" y="1666595"/>
                  </a:lnTo>
                  <a:lnTo>
                    <a:pt x="27038" y="1653921"/>
                  </a:lnTo>
                  <a:lnTo>
                    <a:pt x="1079" y="1624596"/>
                  </a:lnTo>
                  <a:lnTo>
                    <a:pt x="0" y="1620481"/>
                  </a:lnTo>
                  <a:lnTo>
                    <a:pt x="609" y="1624596"/>
                  </a:lnTo>
                  <a:lnTo>
                    <a:pt x="2413" y="1631810"/>
                  </a:lnTo>
                  <a:lnTo>
                    <a:pt x="4851" y="1638592"/>
                  </a:lnTo>
                  <a:lnTo>
                    <a:pt x="4953" y="1638884"/>
                  </a:lnTo>
                  <a:lnTo>
                    <a:pt x="33007" y="1673085"/>
                  </a:lnTo>
                  <a:lnTo>
                    <a:pt x="75349" y="1685925"/>
                  </a:lnTo>
                  <a:lnTo>
                    <a:pt x="5927242" y="1685925"/>
                  </a:lnTo>
                  <a:lnTo>
                    <a:pt x="5932284" y="1683829"/>
                  </a:lnTo>
                  <a:lnTo>
                    <a:pt x="5936475" y="1679638"/>
                  </a:lnTo>
                  <a:lnTo>
                    <a:pt x="5936945" y="1679168"/>
                  </a:lnTo>
                  <a:lnTo>
                    <a:pt x="5940653" y="1675460"/>
                  </a:lnTo>
                  <a:lnTo>
                    <a:pt x="5942749" y="1670418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7275" y="1266824"/>
              <a:ext cx="76200" cy="1685925"/>
            </a:xfrm>
            <a:custGeom>
              <a:avLst/>
              <a:gdLst/>
              <a:ahLst/>
              <a:cxnLst/>
              <a:rect l="l" t="t" r="r" b="b"/>
              <a:pathLst>
                <a:path w="76200" h="16859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64500"/>
                  </a:lnTo>
                  <a:lnTo>
                    <a:pt x="0" y="1667332"/>
                  </a:lnTo>
                  <a:lnTo>
                    <a:pt x="18592" y="1685925"/>
                  </a:lnTo>
                  <a:lnTo>
                    <a:pt x="76200" y="1685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21275" y="1449387"/>
            <a:ext cx="4584700" cy="1283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Conectividad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Riesgo:</a:t>
            </a:r>
            <a:r>
              <a:rPr sz="1350" b="1" spc="-7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Pérdida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señal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4G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9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ruta.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82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Mitigación:</a:t>
            </a:r>
            <a:r>
              <a:rPr sz="1350" b="1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Local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Storage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App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Monitor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para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envío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asincrónico</a:t>
            </a:r>
            <a:r>
              <a:rPr sz="1350" spc="-9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al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recuperar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señal.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67275" y="3124199"/>
            <a:ext cx="5962650" cy="1676400"/>
            <a:chOff x="4867275" y="3124199"/>
            <a:chExt cx="5962650" cy="1676400"/>
          </a:xfrm>
        </p:grpSpPr>
        <p:sp>
          <p:nvSpPr>
            <p:cNvPr id="11" name="object 11"/>
            <p:cNvSpPr/>
            <p:nvPr/>
          </p:nvSpPr>
          <p:spPr>
            <a:xfrm>
              <a:off x="4886325" y="3133724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5"/>
                  </a:lnTo>
                  <a:lnTo>
                    <a:pt x="0" y="1595056"/>
                  </a:lnTo>
                  <a:lnTo>
                    <a:pt x="15621" y="1631353"/>
                  </a:lnTo>
                  <a:lnTo>
                    <a:pt x="51663" y="1653946"/>
                  </a:lnTo>
                  <a:lnTo>
                    <a:pt x="71196" y="1657350"/>
                  </a:lnTo>
                  <a:lnTo>
                    <a:pt x="5925451" y="1657350"/>
                  </a:lnTo>
                  <a:lnTo>
                    <a:pt x="5928258" y="1656181"/>
                  </a:lnTo>
                  <a:lnTo>
                    <a:pt x="5932906" y="1651533"/>
                  </a:lnTo>
                  <a:lnTo>
                    <a:pt x="5934075" y="1648726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87163" y="312421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62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67843" y="1657070"/>
                  </a:lnTo>
                  <a:lnTo>
                    <a:pt x="27038" y="1644396"/>
                  </a:lnTo>
                  <a:lnTo>
                    <a:pt x="1079" y="1615071"/>
                  </a:lnTo>
                  <a:lnTo>
                    <a:pt x="0" y="1610969"/>
                  </a:lnTo>
                  <a:lnTo>
                    <a:pt x="609" y="1615071"/>
                  </a:lnTo>
                  <a:lnTo>
                    <a:pt x="2413" y="1622272"/>
                  </a:lnTo>
                  <a:lnTo>
                    <a:pt x="4851" y="1629067"/>
                  </a:lnTo>
                  <a:lnTo>
                    <a:pt x="4953" y="1629359"/>
                  </a:lnTo>
                  <a:lnTo>
                    <a:pt x="33007" y="1663560"/>
                  </a:lnTo>
                  <a:lnTo>
                    <a:pt x="75349" y="1676400"/>
                  </a:lnTo>
                  <a:lnTo>
                    <a:pt x="5927242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93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7275" y="3124199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92" y="1676400"/>
                  </a:lnTo>
                  <a:lnTo>
                    <a:pt x="76200" y="1676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21275" y="3306762"/>
            <a:ext cx="4853940" cy="12744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C9C9BF"/>
                </a:solidFill>
                <a:latin typeface="Tahoma"/>
                <a:cs typeface="Tahoma"/>
              </a:rPr>
              <a:t>Adopción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Riesgo:</a:t>
            </a:r>
            <a:r>
              <a:rPr sz="1350" b="1" spc="-4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Resistencia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al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uso</a:t>
            </a:r>
            <a:r>
              <a:rPr sz="1350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del</a:t>
            </a:r>
            <a:r>
              <a:rPr sz="1350" spc="-6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sistema.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82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Mitigación:</a:t>
            </a:r>
            <a:r>
              <a:rPr sz="1350" b="1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5" dirty="0">
                <a:solidFill>
                  <a:srgbClr val="C9C9BF"/>
                </a:solidFill>
                <a:latin typeface="Tahoma"/>
                <a:cs typeface="Tahoma"/>
              </a:rPr>
              <a:t>UX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simplificada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95" dirty="0">
                <a:solidFill>
                  <a:srgbClr val="C9C9BF"/>
                </a:solidFill>
                <a:latin typeface="Tahoma"/>
                <a:cs typeface="Tahoma"/>
              </a:rPr>
              <a:t>con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botones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gran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formato</a:t>
            </a:r>
            <a:r>
              <a:rPr sz="1350" spc="-8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35" dirty="0">
                <a:solidFill>
                  <a:srgbClr val="C9C9BF"/>
                </a:solidFill>
                <a:latin typeface="Tahoma"/>
                <a:cs typeface="Tahoma"/>
              </a:rPr>
              <a:t>y </a:t>
            </a:r>
            <a:r>
              <a:rPr sz="1350" spc="65" dirty="0">
                <a:solidFill>
                  <a:srgbClr val="C9C9BF"/>
                </a:solidFill>
                <a:latin typeface="Tahoma"/>
                <a:cs typeface="Tahoma"/>
              </a:rPr>
              <a:t>capacitación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guiada.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67275" y="4972050"/>
            <a:ext cx="5962650" cy="1676400"/>
            <a:chOff x="4867275" y="4972050"/>
            <a:chExt cx="5962650" cy="1676400"/>
          </a:xfrm>
        </p:grpSpPr>
        <p:sp>
          <p:nvSpPr>
            <p:cNvPr id="16" name="object 16"/>
            <p:cNvSpPr/>
            <p:nvPr/>
          </p:nvSpPr>
          <p:spPr>
            <a:xfrm>
              <a:off x="4886325" y="4981575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6"/>
                  </a:lnTo>
                  <a:lnTo>
                    <a:pt x="0" y="1595051"/>
                  </a:lnTo>
                  <a:lnTo>
                    <a:pt x="15621" y="1631355"/>
                  </a:lnTo>
                  <a:lnTo>
                    <a:pt x="51663" y="1653947"/>
                  </a:lnTo>
                  <a:lnTo>
                    <a:pt x="71196" y="1657346"/>
                  </a:lnTo>
                  <a:lnTo>
                    <a:pt x="5925451" y="1657346"/>
                  </a:lnTo>
                  <a:lnTo>
                    <a:pt x="5928258" y="1656185"/>
                  </a:lnTo>
                  <a:lnTo>
                    <a:pt x="5932906" y="1651537"/>
                  </a:lnTo>
                  <a:lnTo>
                    <a:pt x="5934075" y="1648729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7163" y="497206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49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33007" y="1647723"/>
                  </a:lnTo>
                  <a:lnTo>
                    <a:pt x="1079" y="1615059"/>
                  </a:lnTo>
                  <a:lnTo>
                    <a:pt x="0" y="1610956"/>
                  </a:lnTo>
                  <a:lnTo>
                    <a:pt x="609" y="1615059"/>
                  </a:lnTo>
                  <a:lnTo>
                    <a:pt x="21463" y="1654073"/>
                  </a:lnTo>
                  <a:lnTo>
                    <a:pt x="60490" y="1674939"/>
                  </a:lnTo>
                  <a:lnTo>
                    <a:pt x="75349" y="1676400"/>
                  </a:lnTo>
                  <a:lnTo>
                    <a:pt x="5927229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80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7275" y="497205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76200" y="16764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21275" y="5154612"/>
            <a:ext cx="5494655" cy="12744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10" dirty="0">
                <a:solidFill>
                  <a:srgbClr val="C9C9BF"/>
                </a:solidFill>
                <a:latin typeface="Tahoma"/>
                <a:cs typeface="Tahoma"/>
              </a:rPr>
              <a:t>Integridad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Riesgo:</a:t>
            </a:r>
            <a:r>
              <a:rPr sz="1350" b="1" spc="-6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Falsificación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boletas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pago.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750"/>
              </a:spcBef>
            </a:pPr>
            <a:r>
              <a:rPr sz="1350" b="1" dirty="0">
                <a:solidFill>
                  <a:srgbClr val="C9C9BF"/>
                </a:solidFill>
                <a:latin typeface="Tahoma"/>
                <a:cs typeface="Tahoma"/>
              </a:rPr>
              <a:t>Mitigación:</a:t>
            </a:r>
            <a:r>
              <a:rPr sz="1350" b="1" spc="-5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Verificación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C9C9BF"/>
                </a:solidFill>
                <a:latin typeface="Tahoma"/>
                <a:cs typeface="Tahoma"/>
              </a:rPr>
              <a:t>ID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0" dirty="0">
                <a:solidFill>
                  <a:srgbClr val="C9C9BF"/>
                </a:solidFill>
                <a:latin typeface="Tahoma"/>
                <a:cs typeface="Tahoma"/>
              </a:rPr>
              <a:t>único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0" dirty="0">
                <a:solidFill>
                  <a:srgbClr val="C9C9BF"/>
                </a:solidFill>
                <a:latin typeface="Tahoma"/>
                <a:cs typeface="Tahoma"/>
              </a:rPr>
              <a:t>de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75" dirty="0">
                <a:solidFill>
                  <a:srgbClr val="C9C9BF"/>
                </a:solidFill>
                <a:latin typeface="Tahoma"/>
                <a:cs typeface="Tahoma"/>
              </a:rPr>
              <a:t>transacción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60" dirty="0">
                <a:solidFill>
                  <a:srgbClr val="C9C9BF"/>
                </a:solidFill>
                <a:latin typeface="Tahoma"/>
                <a:cs typeface="Tahoma"/>
              </a:rPr>
              <a:t>bancaria</a:t>
            </a:r>
            <a:r>
              <a:rPr sz="1350" spc="-80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85" dirty="0">
                <a:solidFill>
                  <a:srgbClr val="C9C9BF"/>
                </a:solidFill>
                <a:latin typeface="Tahoma"/>
                <a:cs typeface="Tahoma"/>
              </a:rPr>
              <a:t>en</a:t>
            </a:r>
            <a:r>
              <a:rPr sz="1350" spc="-7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50" dirty="0">
                <a:solidFill>
                  <a:srgbClr val="C9C9BF"/>
                </a:solidFill>
                <a:latin typeface="Tahoma"/>
                <a:cs typeface="Tahoma"/>
              </a:rPr>
              <a:t>BD (Unique</a:t>
            </a:r>
            <a:r>
              <a:rPr sz="1350" spc="-105" dirty="0">
                <a:solidFill>
                  <a:srgbClr val="C9C9B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C9C9BF"/>
                </a:solidFill>
                <a:latin typeface="Tahoma"/>
                <a:cs typeface="Tahoma"/>
              </a:rPr>
              <a:t>Key).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582CB-3BD7-B52F-EB23-F8C27DD3A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FF0F60-BEDD-021C-9B1E-C14AEA0A7420}"/>
              </a:ext>
            </a:extLst>
          </p:cNvPr>
          <p:cNvSpPr/>
          <p:nvPr/>
        </p:nvSpPr>
        <p:spPr>
          <a:xfrm>
            <a:off x="0" y="0"/>
            <a:ext cx="11430000" cy="8788147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1B2E7BC7-EAF0-668B-1412-9537F0AFC7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7375" y="311149"/>
            <a:ext cx="9118600" cy="695062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4298950" algn="l">
              <a:lnSpc>
                <a:spcPct val="100000"/>
              </a:lnSpc>
              <a:spcBef>
                <a:spcPts val="125"/>
              </a:spcBef>
            </a:pPr>
            <a:r>
              <a:rPr lang="es-GT" spc="80" dirty="0"/>
              <a:t>Experiencia con la IA</a:t>
            </a:r>
            <a:endParaRPr spc="65" dirty="0"/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F6F4C57F-6BD3-DE3E-3509-8C582F005EC1}"/>
              </a:ext>
            </a:extLst>
          </p:cNvPr>
          <p:cNvGrpSpPr/>
          <p:nvPr/>
        </p:nvGrpSpPr>
        <p:grpSpPr>
          <a:xfrm>
            <a:off x="4867275" y="1266825"/>
            <a:ext cx="5962650" cy="1647506"/>
            <a:chOff x="4867275" y="1266824"/>
            <a:chExt cx="5962650" cy="168592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ED1AFFD-CAF4-2183-921D-62272065DA47}"/>
                </a:ext>
              </a:extLst>
            </p:cNvPr>
            <p:cNvSpPr/>
            <p:nvPr/>
          </p:nvSpPr>
          <p:spPr>
            <a:xfrm>
              <a:off x="4886325" y="1276349"/>
              <a:ext cx="5934075" cy="1666875"/>
            </a:xfrm>
            <a:custGeom>
              <a:avLst/>
              <a:gdLst/>
              <a:ahLst/>
              <a:cxnLst/>
              <a:rect l="l" t="t" r="r" b="b"/>
              <a:pathLst>
                <a:path w="5934075" h="1666875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600200"/>
                  </a:lnTo>
                  <a:lnTo>
                    <a:pt x="0" y="1604581"/>
                  </a:lnTo>
                  <a:lnTo>
                    <a:pt x="15621" y="1640878"/>
                  </a:lnTo>
                  <a:lnTo>
                    <a:pt x="51663" y="1663471"/>
                  </a:lnTo>
                  <a:lnTo>
                    <a:pt x="71196" y="1666875"/>
                  </a:lnTo>
                  <a:lnTo>
                    <a:pt x="5925451" y="1666875"/>
                  </a:lnTo>
                  <a:lnTo>
                    <a:pt x="5928258" y="1665706"/>
                  </a:lnTo>
                  <a:lnTo>
                    <a:pt x="5932906" y="1661058"/>
                  </a:lnTo>
                  <a:lnTo>
                    <a:pt x="5934075" y="1658251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46BCD32-CE5C-2A24-F00F-1C556C34F32D}"/>
                </a:ext>
              </a:extLst>
            </p:cNvPr>
            <p:cNvSpPr/>
            <p:nvPr/>
          </p:nvSpPr>
          <p:spPr>
            <a:xfrm>
              <a:off x="4887163" y="1266837"/>
              <a:ext cx="5942965" cy="1685925"/>
            </a:xfrm>
            <a:custGeom>
              <a:avLst/>
              <a:gdLst/>
              <a:ahLst/>
              <a:cxnLst/>
              <a:rect l="l" t="t" r="r" b="b"/>
              <a:pathLst>
                <a:path w="5942965" h="1685925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66087"/>
                  </a:lnTo>
                  <a:lnTo>
                    <a:pt x="5923305" y="1666481"/>
                  </a:lnTo>
                  <a:lnTo>
                    <a:pt x="5922911" y="1666875"/>
                  </a:lnTo>
                  <a:lnTo>
                    <a:pt x="75349" y="1666875"/>
                  </a:lnTo>
                  <a:lnTo>
                    <a:pt x="67843" y="1666595"/>
                  </a:lnTo>
                  <a:lnTo>
                    <a:pt x="27038" y="1653921"/>
                  </a:lnTo>
                  <a:lnTo>
                    <a:pt x="1079" y="1624596"/>
                  </a:lnTo>
                  <a:lnTo>
                    <a:pt x="0" y="1620481"/>
                  </a:lnTo>
                  <a:lnTo>
                    <a:pt x="609" y="1624596"/>
                  </a:lnTo>
                  <a:lnTo>
                    <a:pt x="2413" y="1631810"/>
                  </a:lnTo>
                  <a:lnTo>
                    <a:pt x="4851" y="1638592"/>
                  </a:lnTo>
                  <a:lnTo>
                    <a:pt x="4953" y="1638884"/>
                  </a:lnTo>
                  <a:lnTo>
                    <a:pt x="33007" y="1673085"/>
                  </a:lnTo>
                  <a:lnTo>
                    <a:pt x="75349" y="1685925"/>
                  </a:lnTo>
                  <a:lnTo>
                    <a:pt x="5927242" y="1685925"/>
                  </a:lnTo>
                  <a:lnTo>
                    <a:pt x="5932284" y="1683829"/>
                  </a:lnTo>
                  <a:lnTo>
                    <a:pt x="5936475" y="1679638"/>
                  </a:lnTo>
                  <a:lnTo>
                    <a:pt x="5936945" y="1679168"/>
                  </a:lnTo>
                  <a:lnTo>
                    <a:pt x="5940653" y="1675460"/>
                  </a:lnTo>
                  <a:lnTo>
                    <a:pt x="5942749" y="1670418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104E7AA-AFFE-A785-9CC7-E6E767C737A8}"/>
                </a:ext>
              </a:extLst>
            </p:cNvPr>
            <p:cNvSpPr/>
            <p:nvPr/>
          </p:nvSpPr>
          <p:spPr>
            <a:xfrm>
              <a:off x="4867275" y="1266824"/>
              <a:ext cx="76200" cy="1685925"/>
            </a:xfrm>
            <a:custGeom>
              <a:avLst/>
              <a:gdLst/>
              <a:ahLst/>
              <a:cxnLst/>
              <a:rect l="l" t="t" r="r" b="b"/>
              <a:pathLst>
                <a:path w="76200" h="1685925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64500"/>
                  </a:lnTo>
                  <a:lnTo>
                    <a:pt x="0" y="1667332"/>
                  </a:lnTo>
                  <a:lnTo>
                    <a:pt x="18592" y="1685925"/>
                  </a:lnTo>
                  <a:lnTo>
                    <a:pt x="76200" y="1685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F4BBE51C-D750-E5AE-0D2C-82CD09871590}"/>
              </a:ext>
            </a:extLst>
          </p:cNvPr>
          <p:cNvSpPr txBox="1"/>
          <p:nvPr/>
        </p:nvSpPr>
        <p:spPr>
          <a:xfrm>
            <a:off x="5121275" y="1449387"/>
            <a:ext cx="4584700" cy="1292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b="1" spc="-10" dirty="0">
                <a:solidFill>
                  <a:srgbClr val="C9C9BF"/>
                </a:solidFill>
                <a:latin typeface="Tahoma"/>
                <a:cs typeface="Tahoma"/>
              </a:rPr>
              <a:t>Reducción de esfuerzo inicial: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b="1" dirty="0">
                <a:solidFill>
                  <a:srgbClr val="C9C9BF"/>
                </a:solidFill>
                <a:latin typeface="Tahoma"/>
                <a:cs typeface="Tahoma"/>
              </a:rPr>
              <a:t>Las tareas repetitivas (como creación de módulos, plantillas y documentación técnica) se aceleraron gracias al apoyo de la IA.</a:t>
            </a:r>
            <a:endParaRPr sz="1600" dirty="0">
              <a:latin typeface="Tahoma"/>
              <a:cs typeface="Tahoma"/>
            </a:endParaRPr>
          </a:p>
        </p:txBody>
      </p:sp>
      <p:grpSp>
        <p:nvGrpSpPr>
          <p:cNvPr id="10" name="object 10">
            <a:extLst>
              <a:ext uri="{FF2B5EF4-FFF2-40B4-BE49-F238E27FC236}">
                <a16:creationId xmlns:a16="http://schemas.microsoft.com/office/drawing/2014/main" id="{D85A9DB1-9D59-91EA-EC90-56D53D8E8A89}"/>
              </a:ext>
            </a:extLst>
          </p:cNvPr>
          <p:cNvGrpSpPr/>
          <p:nvPr/>
        </p:nvGrpSpPr>
        <p:grpSpPr>
          <a:xfrm>
            <a:off x="4867275" y="3124199"/>
            <a:ext cx="5962650" cy="1847838"/>
            <a:chOff x="4867275" y="3124199"/>
            <a:chExt cx="5962650" cy="167640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E9CB84D-1255-C94A-899B-530C2369611A}"/>
                </a:ext>
              </a:extLst>
            </p:cNvPr>
            <p:cNvSpPr/>
            <p:nvPr/>
          </p:nvSpPr>
          <p:spPr>
            <a:xfrm>
              <a:off x="4886325" y="3133724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5"/>
                  </a:lnTo>
                  <a:lnTo>
                    <a:pt x="0" y="1595056"/>
                  </a:lnTo>
                  <a:lnTo>
                    <a:pt x="15621" y="1631353"/>
                  </a:lnTo>
                  <a:lnTo>
                    <a:pt x="51663" y="1653946"/>
                  </a:lnTo>
                  <a:lnTo>
                    <a:pt x="71196" y="1657350"/>
                  </a:lnTo>
                  <a:lnTo>
                    <a:pt x="5925451" y="1657350"/>
                  </a:lnTo>
                  <a:lnTo>
                    <a:pt x="5928258" y="1656181"/>
                  </a:lnTo>
                  <a:lnTo>
                    <a:pt x="5932906" y="1651533"/>
                  </a:lnTo>
                  <a:lnTo>
                    <a:pt x="5934075" y="1648726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F4E667F-1BBB-1739-32B2-64CBAB0B924E}"/>
                </a:ext>
              </a:extLst>
            </p:cNvPr>
            <p:cNvSpPr/>
            <p:nvPr/>
          </p:nvSpPr>
          <p:spPr>
            <a:xfrm>
              <a:off x="4887163" y="312421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62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67843" y="1657070"/>
                  </a:lnTo>
                  <a:lnTo>
                    <a:pt x="27038" y="1644396"/>
                  </a:lnTo>
                  <a:lnTo>
                    <a:pt x="1079" y="1615071"/>
                  </a:lnTo>
                  <a:lnTo>
                    <a:pt x="0" y="1610969"/>
                  </a:lnTo>
                  <a:lnTo>
                    <a:pt x="609" y="1615071"/>
                  </a:lnTo>
                  <a:lnTo>
                    <a:pt x="2413" y="1622272"/>
                  </a:lnTo>
                  <a:lnTo>
                    <a:pt x="4851" y="1629067"/>
                  </a:lnTo>
                  <a:lnTo>
                    <a:pt x="4953" y="1629359"/>
                  </a:lnTo>
                  <a:lnTo>
                    <a:pt x="33007" y="1663560"/>
                  </a:lnTo>
                  <a:lnTo>
                    <a:pt x="75349" y="1676400"/>
                  </a:lnTo>
                  <a:lnTo>
                    <a:pt x="5927242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93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D77A449-C332-4BA8-1878-FA4ABEF7B27D}"/>
                </a:ext>
              </a:extLst>
            </p:cNvPr>
            <p:cNvSpPr/>
            <p:nvPr/>
          </p:nvSpPr>
          <p:spPr>
            <a:xfrm>
              <a:off x="4867275" y="3124199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5"/>
                  </a:lnTo>
                  <a:lnTo>
                    <a:pt x="0" y="1657807"/>
                  </a:lnTo>
                  <a:lnTo>
                    <a:pt x="18592" y="1676400"/>
                  </a:lnTo>
                  <a:lnTo>
                    <a:pt x="76200" y="16764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01B3B518-A661-8F92-8C24-A51A79FB71A3}"/>
              </a:ext>
            </a:extLst>
          </p:cNvPr>
          <p:cNvSpPr txBox="1"/>
          <p:nvPr/>
        </p:nvSpPr>
        <p:spPr>
          <a:xfrm>
            <a:off x="5121274" y="3306762"/>
            <a:ext cx="5699125" cy="153824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b="1" spc="50" dirty="0">
                <a:solidFill>
                  <a:srgbClr val="C9C9BF"/>
                </a:solidFill>
                <a:latin typeface="Tahoma"/>
                <a:cs typeface="Tahoma"/>
              </a:rPr>
              <a:t>Mayor tiempo en pruebas y validación: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spc="-10" dirty="0">
                <a:solidFill>
                  <a:srgbClr val="C9C9BF"/>
                </a:solidFill>
                <a:latin typeface="Tahoma"/>
                <a:cs typeface="Tahoma"/>
              </a:rPr>
              <a:t>Aunque el desarrollo fue más rápido, descubrimos que se requiere invertir más tiempo en pruebas, integración y validación para asegurar que el código generado cumpla con los estándares de calidad y se integre bien con el trabajo del equipo.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5" name="object 15">
            <a:extLst>
              <a:ext uri="{FF2B5EF4-FFF2-40B4-BE49-F238E27FC236}">
                <a16:creationId xmlns:a16="http://schemas.microsoft.com/office/drawing/2014/main" id="{8F317157-877C-5CCA-BF4D-CFAB065DE011}"/>
              </a:ext>
            </a:extLst>
          </p:cNvPr>
          <p:cNvGrpSpPr/>
          <p:nvPr/>
        </p:nvGrpSpPr>
        <p:grpSpPr>
          <a:xfrm>
            <a:off x="4867275" y="5144736"/>
            <a:ext cx="5962650" cy="1676400"/>
            <a:chOff x="4867275" y="4972050"/>
            <a:chExt cx="5962650" cy="1676400"/>
          </a:xfrm>
        </p:grpSpPr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C1FE06F-F689-D26A-B53B-318214947DA7}"/>
                </a:ext>
              </a:extLst>
            </p:cNvPr>
            <p:cNvSpPr/>
            <p:nvPr/>
          </p:nvSpPr>
          <p:spPr>
            <a:xfrm>
              <a:off x="4886325" y="4981575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6"/>
                  </a:lnTo>
                  <a:lnTo>
                    <a:pt x="0" y="1595051"/>
                  </a:lnTo>
                  <a:lnTo>
                    <a:pt x="15621" y="1631355"/>
                  </a:lnTo>
                  <a:lnTo>
                    <a:pt x="51663" y="1653947"/>
                  </a:lnTo>
                  <a:lnTo>
                    <a:pt x="71196" y="1657346"/>
                  </a:lnTo>
                  <a:lnTo>
                    <a:pt x="5925451" y="1657346"/>
                  </a:lnTo>
                  <a:lnTo>
                    <a:pt x="5928258" y="1656185"/>
                  </a:lnTo>
                  <a:lnTo>
                    <a:pt x="5932906" y="1651537"/>
                  </a:lnTo>
                  <a:lnTo>
                    <a:pt x="5934075" y="1648729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E01E40F-2A8F-3263-0D7D-67F8ED14E686}"/>
                </a:ext>
              </a:extLst>
            </p:cNvPr>
            <p:cNvSpPr/>
            <p:nvPr/>
          </p:nvSpPr>
          <p:spPr>
            <a:xfrm>
              <a:off x="4887163" y="497206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49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33007" y="1647723"/>
                  </a:lnTo>
                  <a:lnTo>
                    <a:pt x="1079" y="1615059"/>
                  </a:lnTo>
                  <a:lnTo>
                    <a:pt x="0" y="1610956"/>
                  </a:lnTo>
                  <a:lnTo>
                    <a:pt x="609" y="1615059"/>
                  </a:lnTo>
                  <a:lnTo>
                    <a:pt x="21463" y="1654073"/>
                  </a:lnTo>
                  <a:lnTo>
                    <a:pt x="60490" y="1674939"/>
                  </a:lnTo>
                  <a:lnTo>
                    <a:pt x="75349" y="1676400"/>
                  </a:lnTo>
                  <a:lnTo>
                    <a:pt x="5927229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80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388031B-A294-4E55-4047-2CCD42DA2073}"/>
                </a:ext>
              </a:extLst>
            </p:cNvPr>
            <p:cNvSpPr/>
            <p:nvPr/>
          </p:nvSpPr>
          <p:spPr>
            <a:xfrm>
              <a:off x="4867275" y="497205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76200" y="16764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>
            <a:extLst>
              <a:ext uri="{FF2B5EF4-FFF2-40B4-BE49-F238E27FC236}">
                <a16:creationId xmlns:a16="http://schemas.microsoft.com/office/drawing/2014/main" id="{31B94D7D-3590-EE1F-CF7E-D7CAFEA7DA1E}"/>
              </a:ext>
            </a:extLst>
          </p:cNvPr>
          <p:cNvSpPr txBox="1"/>
          <p:nvPr/>
        </p:nvSpPr>
        <p:spPr>
          <a:xfrm>
            <a:off x="5121275" y="5154612"/>
            <a:ext cx="5494655" cy="132279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b="1" spc="-10" dirty="0">
                <a:solidFill>
                  <a:srgbClr val="C9C9BF"/>
                </a:solidFill>
                <a:latin typeface="Tahoma"/>
                <a:cs typeface="Tahoma"/>
              </a:rPr>
              <a:t>Colaboración humano‑IA: 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spc="-10" dirty="0">
                <a:solidFill>
                  <a:srgbClr val="C9C9BF"/>
                </a:solidFill>
                <a:latin typeface="Tahoma"/>
                <a:cs typeface="Tahoma"/>
              </a:rPr>
              <a:t>La IA no reemplaza al desarrollador, sino que se convierte en un asistente que potencia la productividad. El equipo mantiene el control de las decisiones críticas y la validación final</a:t>
            </a:r>
            <a:endParaRPr lang="es-GT" sz="1600" spc="-10" dirty="0">
              <a:solidFill>
                <a:srgbClr val="C9C9BF"/>
              </a:solidFill>
              <a:latin typeface="Tahoma"/>
              <a:cs typeface="Tahoma"/>
            </a:endParaRPr>
          </a:p>
        </p:txBody>
      </p:sp>
      <p:grpSp>
        <p:nvGrpSpPr>
          <p:cNvPr id="20" name="object 15">
            <a:extLst>
              <a:ext uri="{FF2B5EF4-FFF2-40B4-BE49-F238E27FC236}">
                <a16:creationId xmlns:a16="http://schemas.microsoft.com/office/drawing/2014/main" id="{543E4C6F-C432-CE59-FAB6-98BE8BFFFAEB}"/>
              </a:ext>
            </a:extLst>
          </p:cNvPr>
          <p:cNvGrpSpPr/>
          <p:nvPr/>
        </p:nvGrpSpPr>
        <p:grpSpPr>
          <a:xfrm>
            <a:off x="4886325" y="6966087"/>
            <a:ext cx="5962650" cy="1676400"/>
            <a:chOff x="4867275" y="4972050"/>
            <a:chExt cx="5962650" cy="1676400"/>
          </a:xfrm>
        </p:grpSpPr>
        <p:sp>
          <p:nvSpPr>
            <p:cNvPr id="21" name="object 16">
              <a:extLst>
                <a:ext uri="{FF2B5EF4-FFF2-40B4-BE49-F238E27FC236}">
                  <a16:creationId xmlns:a16="http://schemas.microsoft.com/office/drawing/2014/main" id="{40D3AF04-2D82-B235-34A6-E9588C9470DC}"/>
                </a:ext>
              </a:extLst>
            </p:cNvPr>
            <p:cNvSpPr/>
            <p:nvPr/>
          </p:nvSpPr>
          <p:spPr>
            <a:xfrm>
              <a:off x="4886325" y="4981575"/>
              <a:ext cx="5934075" cy="1657350"/>
            </a:xfrm>
            <a:custGeom>
              <a:avLst/>
              <a:gdLst/>
              <a:ahLst/>
              <a:cxnLst/>
              <a:rect l="l" t="t" r="r" b="b"/>
              <a:pathLst>
                <a:path w="5934075" h="1657350">
                  <a:moveTo>
                    <a:pt x="5925451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590676"/>
                  </a:lnTo>
                  <a:lnTo>
                    <a:pt x="0" y="1595051"/>
                  </a:lnTo>
                  <a:lnTo>
                    <a:pt x="15621" y="1631355"/>
                  </a:lnTo>
                  <a:lnTo>
                    <a:pt x="51663" y="1653947"/>
                  </a:lnTo>
                  <a:lnTo>
                    <a:pt x="71196" y="1657346"/>
                  </a:lnTo>
                  <a:lnTo>
                    <a:pt x="5925451" y="1657346"/>
                  </a:lnTo>
                  <a:lnTo>
                    <a:pt x="5928258" y="1656185"/>
                  </a:lnTo>
                  <a:lnTo>
                    <a:pt x="5932906" y="1651537"/>
                  </a:lnTo>
                  <a:lnTo>
                    <a:pt x="5934075" y="1648729"/>
                  </a:lnTo>
                  <a:lnTo>
                    <a:pt x="5934075" y="8623"/>
                  </a:lnTo>
                  <a:lnTo>
                    <a:pt x="5932906" y="5803"/>
                  </a:lnTo>
                  <a:lnTo>
                    <a:pt x="5928258" y="1155"/>
                  </a:lnTo>
                  <a:lnTo>
                    <a:pt x="5925451" y="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69575E1D-E76A-8E01-7044-048A49104449}"/>
                </a:ext>
              </a:extLst>
            </p:cNvPr>
            <p:cNvSpPr/>
            <p:nvPr/>
          </p:nvSpPr>
          <p:spPr>
            <a:xfrm>
              <a:off x="4887163" y="4972062"/>
              <a:ext cx="5942965" cy="1676400"/>
            </a:xfrm>
            <a:custGeom>
              <a:avLst/>
              <a:gdLst/>
              <a:ahLst/>
              <a:cxnLst/>
              <a:rect l="l" t="t" r="r" b="b"/>
              <a:pathLst>
                <a:path w="5942965" h="1676400">
                  <a:moveTo>
                    <a:pt x="5942749" y="15519"/>
                  </a:moveTo>
                  <a:lnTo>
                    <a:pt x="5940653" y="10464"/>
                  </a:lnTo>
                  <a:lnTo>
                    <a:pt x="5936945" y="6756"/>
                  </a:lnTo>
                  <a:lnTo>
                    <a:pt x="5936475" y="6273"/>
                  </a:lnTo>
                  <a:lnTo>
                    <a:pt x="5932284" y="2095"/>
                  </a:lnTo>
                  <a:lnTo>
                    <a:pt x="5927242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27038" y="17259"/>
                  </a:lnTo>
                  <a:lnTo>
                    <a:pt x="2413" y="54102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5922911" y="19050"/>
                  </a:lnTo>
                  <a:lnTo>
                    <a:pt x="5923623" y="19786"/>
                  </a:lnTo>
                  <a:lnTo>
                    <a:pt x="5923699" y="1656549"/>
                  </a:lnTo>
                  <a:lnTo>
                    <a:pt x="5923305" y="1656956"/>
                  </a:lnTo>
                  <a:lnTo>
                    <a:pt x="5922911" y="1657350"/>
                  </a:lnTo>
                  <a:lnTo>
                    <a:pt x="75349" y="1657350"/>
                  </a:lnTo>
                  <a:lnTo>
                    <a:pt x="33007" y="1647723"/>
                  </a:lnTo>
                  <a:lnTo>
                    <a:pt x="1079" y="1615059"/>
                  </a:lnTo>
                  <a:lnTo>
                    <a:pt x="0" y="1610956"/>
                  </a:lnTo>
                  <a:lnTo>
                    <a:pt x="609" y="1615059"/>
                  </a:lnTo>
                  <a:lnTo>
                    <a:pt x="21463" y="1654073"/>
                  </a:lnTo>
                  <a:lnTo>
                    <a:pt x="60490" y="1674939"/>
                  </a:lnTo>
                  <a:lnTo>
                    <a:pt x="75349" y="1676400"/>
                  </a:lnTo>
                  <a:lnTo>
                    <a:pt x="5927229" y="1676400"/>
                  </a:lnTo>
                  <a:lnTo>
                    <a:pt x="5932284" y="1674304"/>
                  </a:lnTo>
                  <a:lnTo>
                    <a:pt x="5936475" y="1670113"/>
                  </a:lnTo>
                  <a:lnTo>
                    <a:pt x="5936945" y="1669643"/>
                  </a:lnTo>
                  <a:lnTo>
                    <a:pt x="5940653" y="1665935"/>
                  </a:lnTo>
                  <a:lnTo>
                    <a:pt x="5942749" y="1660880"/>
                  </a:lnTo>
                  <a:lnTo>
                    <a:pt x="5942749" y="15519"/>
                  </a:lnTo>
                  <a:close/>
                </a:path>
              </a:pathLst>
            </a:custGeom>
            <a:solidFill>
              <a:srgbClr val="5454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>
              <a:extLst>
                <a:ext uri="{FF2B5EF4-FFF2-40B4-BE49-F238E27FC236}">
                  <a16:creationId xmlns:a16="http://schemas.microsoft.com/office/drawing/2014/main" id="{80C408D9-E260-210A-3551-A686979D8305}"/>
                </a:ext>
              </a:extLst>
            </p:cNvPr>
            <p:cNvSpPr/>
            <p:nvPr/>
          </p:nvSpPr>
          <p:spPr>
            <a:xfrm>
              <a:off x="4867275" y="4972050"/>
              <a:ext cx="76200" cy="1676400"/>
            </a:xfrm>
            <a:custGeom>
              <a:avLst/>
              <a:gdLst/>
              <a:ahLst/>
              <a:cxnLst/>
              <a:rect l="l" t="t" r="r" b="b"/>
              <a:pathLst>
                <a:path w="76200" h="16764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654970"/>
                  </a:lnTo>
                  <a:lnTo>
                    <a:pt x="0" y="1657807"/>
                  </a:lnTo>
                  <a:lnTo>
                    <a:pt x="76200" y="16764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E1E1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9">
            <a:extLst>
              <a:ext uri="{FF2B5EF4-FFF2-40B4-BE49-F238E27FC236}">
                <a16:creationId xmlns:a16="http://schemas.microsoft.com/office/drawing/2014/main" id="{3538504B-B5D5-4657-C9DC-1090C019A3D4}"/>
              </a:ext>
            </a:extLst>
          </p:cNvPr>
          <p:cNvSpPr txBox="1"/>
          <p:nvPr/>
        </p:nvSpPr>
        <p:spPr>
          <a:xfrm>
            <a:off x="5223508" y="7148660"/>
            <a:ext cx="5494655" cy="104579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GT" b="1" spc="-10" dirty="0">
                <a:solidFill>
                  <a:srgbClr val="C9C9BF"/>
                </a:solidFill>
                <a:latin typeface="Tahoma"/>
                <a:cs typeface="Tahoma"/>
              </a:rPr>
              <a:t>Lección aprendida:</a:t>
            </a: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1600" spc="-10" dirty="0">
                <a:solidFill>
                  <a:srgbClr val="C9C9BF"/>
                </a:solidFill>
                <a:latin typeface="Tahoma"/>
                <a:cs typeface="Tahoma"/>
              </a:rPr>
              <a:t>La clave está en el equilibrio: usar IA para acelerar la construcción, pero reforzar la fase de pruebas para garantizar confiabilidad</a:t>
            </a:r>
            <a:endParaRPr lang="es-GT" sz="1600" spc="-10" dirty="0">
              <a:solidFill>
                <a:srgbClr val="C9C9BF"/>
              </a:solidFill>
              <a:latin typeface="Tahoma"/>
              <a:cs typeface="Tahoma"/>
            </a:endParaRPr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8C39A47F-0821-DC15-8A3B-2EAC1F2FF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97" y="0"/>
            <a:ext cx="4803571" cy="87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563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9709</TotalTime>
  <Words>873</Words>
  <Application>Microsoft Office PowerPoint</Application>
  <PresentationFormat>Personalizado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Tahoma</vt:lpstr>
      <vt:lpstr>Verdana</vt:lpstr>
      <vt:lpstr>Office Theme</vt:lpstr>
      <vt:lpstr>Gestión de Pagos — Transportes Génesis</vt:lpstr>
      <vt:lpstr>Problemática y Objetivos</vt:lpstr>
      <vt:lpstr>Alcance Integral v1.0</vt:lpstr>
      <vt:lpstr>Diagramas principales del sistema</vt:lpstr>
      <vt:lpstr>Diagramas principales del sistema</vt:lpstr>
      <vt:lpstr>Diagramas principales del sistema</vt:lpstr>
      <vt:lpstr>Diagramas principales del sistema</vt:lpstr>
      <vt:lpstr>Monitoreo en Tiempo Real</vt:lpstr>
      <vt:lpstr>Conciliación de Cobros Digitalización del Recaudo</vt:lpstr>
      <vt:lpstr>Arquitectura de Software</vt:lpstr>
      <vt:lpstr>Entorno Cloud Azure PaaS Eficiencia de Costos Cloud</vt:lpstr>
      <vt:lpstr>Comparación de Aplicaciones de Transporte Escolar</vt:lpstr>
      <vt:lpstr>Especificación Económica Tarifa de Consultoría TI</vt:lpstr>
      <vt:lpstr>Plan de Suscripción y ROI</vt:lpstr>
      <vt:lpstr>Grafica de recuperación de la inversión según la suscripción </vt:lpstr>
      <vt:lpstr>Análisis de Riesgos</vt:lpstr>
      <vt:lpstr>Experiencia con la 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Jos? David Flori?n Secaida</cp:lastModifiedBy>
  <cp:revision>9</cp:revision>
  <dcterms:created xsi:type="dcterms:W3CDTF">2026-06-06T17:41:57Z</dcterms:created>
  <dcterms:modified xsi:type="dcterms:W3CDTF">2026-06-14T23:25:19Z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2026-06-06T00:00:00Z</vt:filetime>
  </property>
  <property fmtid="{D5CDD505-2E9C-101B-9397-08002B2CF9AE}" pid="6" name="Producer">
    <vt:lpwstr>pdf-lib (https://github.com/Hopding/pdf-lib)</vt:lpwstr>
  </property>
</Properties>
</file>