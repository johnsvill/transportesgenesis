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Q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Ingeniería QA</c:v>
                </c:pt>
                <c:pt idx="1">
                  <c:v>Capacitación</c:v>
                </c:pt>
                <c:pt idx="2">
                  <c:v>Soporte 6m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46000</c:v>
                </c:pt>
                <c:pt idx="1">
                  <c:v>1450</c:v>
                </c:pt>
                <c:pt idx="2">
                  <c:v>1500</c:v>
                </c:pt>
              </c:numCache>
            </c:numRef>
          </c:val>
        </c:ser>
      </c:pieChart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Flujo neto acumulado (Q)</c:v>
                </c:pt>
              </c:strCache>
            </c:strRef>
          </c:tx>
          <c:cat>
            <c:strRef>
              <c:f>Sheet1!$A$2:$A$10</c:f>
              <c:strCache>
                <c:ptCount val="9"/>
                <c:pt idx="0">
                  <c:v>M0</c:v>
                </c:pt>
                <c:pt idx="1">
                  <c:v>M2</c:v>
                </c:pt>
                <c:pt idx="2">
                  <c:v>M4</c:v>
                </c:pt>
                <c:pt idx="3">
                  <c:v>M6</c:v>
                </c:pt>
                <c:pt idx="4">
                  <c:v>M8</c:v>
                </c:pt>
                <c:pt idx="5">
                  <c:v>M10</c:v>
                </c:pt>
                <c:pt idx="6">
                  <c:v>M12</c:v>
                </c:pt>
                <c:pt idx="7">
                  <c:v>M14</c:v>
                </c:pt>
                <c:pt idx="8">
                  <c:v>M16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9780</c:v>
                </c:pt>
                <c:pt idx="2">
                  <c:v>19560</c:v>
                </c:pt>
                <c:pt idx="3">
                  <c:v>29340</c:v>
                </c:pt>
                <c:pt idx="4">
                  <c:v>39120</c:v>
                </c:pt>
                <c:pt idx="5">
                  <c:v>48900</c:v>
                </c:pt>
                <c:pt idx="6">
                  <c:v>58680</c:v>
                </c:pt>
                <c:pt idx="7">
                  <c:v>68460</c:v>
                </c:pt>
                <c:pt idx="8">
                  <c:v>78240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Inversión referencia (Q)</c:v>
                </c:pt>
              </c:strCache>
            </c:strRef>
          </c:tx>
          <c:cat>
            <c:strRef>
              <c:f>Sheet1!$A$2:$A$10</c:f>
              <c:strCache>
                <c:ptCount val="9"/>
                <c:pt idx="0">
                  <c:v>M0</c:v>
                </c:pt>
                <c:pt idx="1">
                  <c:v>M2</c:v>
                </c:pt>
                <c:pt idx="2">
                  <c:v>M4</c:v>
                </c:pt>
                <c:pt idx="3">
                  <c:v>M6</c:v>
                </c:pt>
                <c:pt idx="4">
                  <c:v>M8</c:v>
                </c:pt>
                <c:pt idx="5">
                  <c:v>M10</c:v>
                </c:pt>
                <c:pt idx="6">
                  <c:v>M12</c:v>
                </c:pt>
                <c:pt idx="7">
                  <c:v>M14</c:v>
                </c:pt>
                <c:pt idx="8">
                  <c:v>M16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48950</c:v>
                </c:pt>
                <c:pt idx="1">
                  <c:v>48950</c:v>
                </c:pt>
                <c:pt idx="2">
                  <c:v>48950</c:v>
                </c:pt>
                <c:pt idx="3">
                  <c:v>48950</c:v>
                </c:pt>
                <c:pt idx="4">
                  <c:v>48950</c:v>
                </c:pt>
                <c:pt idx="5">
                  <c:v>48950</c:v>
                </c:pt>
                <c:pt idx="6">
                  <c:v>48950</c:v>
                </c:pt>
                <c:pt idx="7">
                  <c:v>48950</c:v>
                </c:pt>
                <c:pt idx="8">
                  <c:v>48950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6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Transportes Génesis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DBEAFE"/>
                </a:solidFill>
              </a:defRPr>
            </a:pPr>
            <a:r>
              <a:t>Plataforma web de transporte escolar</a:t>
            </a:r>
            <a:br/>
            <a:r>
              <a:t>Pagos · Geolocalización · Rutas · Asistencia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Universidad Galileo · v3.0 · 20/06/2026</a:t>
            </a:r>
            <a:br/>
            <a:r>
              <a:t>Alineado al código implementado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Problemática y Objetivos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1A56DB"/>
                </a:solidFill>
              </a:defRPr>
            </a:pPr>
            <a:r>
              <a:t>Desafíos actuales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Rutas planificadas «a ojo» sin optimización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Padres sin visibilidad del bus en ruta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Cobros desorganizados vía WhatsApp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Recogidas y asistencias en papel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059669"/>
                </a:solidFill>
              </a:defRPr>
            </a:pPr>
            <a:r>
              <a:t>Solución Génesis v3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82880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Plataforma web centralizada (.NET 8)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Mapa en vivo: OpenStreetMap + Leaflet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Pagos: boleta + Stripe en línea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GPS → API → SignalR → padre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Rutas: algoritmo vecino más cercano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Alcance v1.0 — Implementado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🔐 Roles: Admin, Piloto, Monitor, Padre (ASP.NET Identity)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🗺️ Mapas: OpenStreetMap + Leaflet + OSRM + Nominatim (sin Google Maps)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📍 Geo en vivo: POST /api/ubicaciones → BD → SignalR /notificacionesHub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💳 Pagos: subir boleta + Stripe (GTQ) + historial del padre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✅ Asistencia diaria y recogidas desde MiRuta (monitor)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🔄 Traslados entre buses y alertas de proximidad (~250 m)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📊 Reportes admin: rutas, asistencias, asignaciones (Excel)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EA580C"/>
                </a:solidFill>
              </a:defRPr>
            </a:pPr>
            <a:r>
              <a:t>Pendiente v2.0: validación admin Pendiente/Aprobado · webhooks Stripe · app nativa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Arquitectura del Sistema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Cliente web: Bootstrap 5 + Leaflet + SignalR JS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Servidor: ASP.NET Core 8 — Razor Pages + MVC (pagos) + API REST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Tiempo real: NotificacionesHub (/notificacionesHub)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Base de datos: SQL Server — esquemas genesis + dbo (Identity)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Servicios externos: OpenStreetMap · OSRM · Nominatim · Stripe API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Despliegue: Azure PaaS (Q 210/mes) u on-premise (IIS + SQL local)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56DB"/>
                </a:solidFill>
              </a:defRPr>
            </a:pPr>
            <a:r>
              <a:t>Flujo geo:  Piloto/Monitor (GPS navegador)  →  API REST  →  SQL Server  →  SignalR  →  Mapa padre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Módulo de Pagos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Controllers/PagosPadresFamilia · Tabla PagosPadres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1A56DB"/>
                </a:solidFill>
              </a:defRPr>
            </a:pPr>
            <a:r>
              <a:t>Implementado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Panel padre: /PagosPadresFamilia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Subir boleta (mes, monto, imagen)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Pago en línea con Stripe (GTQ)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Historial personal del padre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Alerta de meses pendientes (Ene–Oct)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3716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059669"/>
                </a:solidFill>
              </a:defRPr>
            </a:pPr>
            <a:r>
              <a:t>Roadmap v2.0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82880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Panel admin: pagos pendientes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Estados Pendiente / Aprobado / Rechazado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Webhooks Stripe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Reporte de ingresos por fechas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Monto automático por tarifa de recorrido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Geolocalización en Tiempo Real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1. Piloto o monitor obtiene GPS del navegador (Geolocation API)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2. Cliente envía coordenadas a POST /api/ubicaciones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3. Servidor guarda en UbicacionBusEnTiempoReal (SQL Server)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4. Servidor emite evento UbicacionBusActualizada vía SignalR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5. Padre recibe actualización y mueve el bus en mapa Leaflet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6. Alertas automáticas: ~250 m casa del alumno · ~80 m colegio (Haversine)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❌ No usamos Google Maps  ·  ✅ OpenStreetMap + OSRM para rutas en calles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Monitoreo SignalR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1A56DB"/>
                </a:solidFill>
              </a:defRPr>
            </a:pPr>
            <a:r>
              <a:t>Características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Hub: /notificacionesHub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Grupos: Bus_{id} · Alumno_{id}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Eventos: UbicacionBusActualizada, AlertaRecibida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Reconexión automática ante pérdida de red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Intervalo demo: ~2 s (objetivo ≤10 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059669"/>
                </a:solidFill>
              </a:defRPr>
            </a:pPr>
            <a:r>
              <a:t>Pantallas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82880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Padre: DashboardRutaBusAsignado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Piloto: Piloto/MiRuta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Monitor: Monitor/MiRuta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Admin demo: Geolocalizacion/MapaEnTiempoReal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Cálculo de Rutas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Turnos Mañana (termina en colegio) y Tarde (empieza en colegio)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Algoritmo: vecino más cercano (heurística eficiente)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Considera asistencia confirmada del padre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Horarios estimados según distancia (~30 km/h)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Visualización en mapa con geometría real vía OSRM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Nota: no es TSP óptimo exhaustivo — suficiente para el volumen de paradas del proyecto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Usuarios y Redirección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Administrador → /Admin (buses, rutas, alumnos, reportes, traslados)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Piloto → /Piloto/MiRuta (ruta + transmisión GPS)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Monitor → /Monitor/MiRuta (paradas + recogidas)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Padre → /PagosPadresFamilia (panel principal al login)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Padre también accede: mapa del bus, asistencia, traslados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Especificación Económica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Tarifa de consultoría integrada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Tarifa: USD 21.45 / hora (base USD 15.00 + utilidad 30 %)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Esfuerzo: 275 horas de ingeniería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Inversión inicial total: Q 48,950.00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  · Ingeniería y QA: Q 46,000.00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  · Implantación y capacitación: Q 1,450.00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  · Soporte preventivo (6 meses): Q 1,500.00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Infraestructura cloud Azure PaaS: Q 210.00 / mes (recurrente)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Composición de la Inversión Inicial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Q 48,950.00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645920"/>
          <a:ext cx="68580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Plan de Suscripción y 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1A56DB"/>
                </a:solidFill>
              </a:defRPr>
            </a:pPr>
            <a:r>
              <a:t>Modelo SaaS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Q 68.00 por alumno / mes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75 alumnos → Q 5,100 bruto/mes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Menos Azure Q 210 → Q 4,890 neto/mes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Cubre infraestructura y actualizaciones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Crecimiento: ~2 colegios adicionales/año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059669"/>
                </a:solidFill>
              </a:defRPr>
            </a:pPr>
            <a:r>
              <a:t>Recuperación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82880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Inversión: Q 48,950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Escenario base: ~10 meses (48,950 ÷ 4,890)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Escenario presentación: 16 meses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(con expansión gradual)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ROI: operativo + suscripción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Recuperación de la Inversión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Flujo neto Q 4,890 / mes · Inversión Q 48,950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554480"/>
          <a:ext cx="768096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76072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59669"/>
                </a:solidFill>
              </a:defRPr>
            </a:pPr>
            <a:r>
              <a:t>Equilibrio escenario base: ~mes 10  |  Recuperación total con crecimiento: ~mes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Entorno Cloud Azure PaaS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Despliegue sobre Microsoft Azure (App Service + SQL + Blob Storage)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Costo estimado: Q 210.00 / mes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Escalabilidad sin mantenimiento de hardware local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Alternativa: servidores Windows propios (IIS + SQL Server) para demo/desarrollo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Mapas: OpenStreetMap — sin costo de API Google en v1.0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Correcciones v2 → v3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Lo que cambió respecto al documento Word original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Google Maps → OpenStreetMap + Leaflet + OSRM + Nominatim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Stripe «futuro» → Stripe implementado (pagos en línea GTQ)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GPS solo SignalR → API REST + BD + SignalR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Hub /geolocalizacionHub → /notificacionesHub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TSP óptimo → Vecino más cercano (heurística)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Padre entra al mapa → Padre entra a panel de pagos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Costo Google Maps eliminado del presupuesto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Análisis de Riesgos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1A56DB"/>
                </a:solidFill>
              </a:defRPr>
            </a:pPr>
            <a:r>
              <a:t>Riesgo · Mitigación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Pérdida señal 4G → Reconexión SignalR + reintento API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Resistencia al sistema → UX simple + capacitación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Boletas falsas → Verificación manual admin (v2.0)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Límites OSRM/Nominatim → Instancia propia en prod.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Pago Stripe antes de confirmar → Webhooks v2.0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059669"/>
                </a:solidFill>
              </a:defRPr>
            </a:pPr>
            <a:r>
              <a:t>Técnicos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82880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Caída SignalR → Fallback SSE / long polling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Muchas paradas → Límite ~30 + heurística NN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Seguridad XSS/CSRF → Identity + anti-CSRF + EF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Demo y Credenciales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Padre: padre1@gmail.com → /PagosPadresFamilia → mapa en /Padres/DashboardRutaBusAsignado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Monitor: monitor1@transportesgenesis.com → /Monitor/MiRuta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Contraseña demo: Admin123!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Mensajes clave para la defensa: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· OpenStreetMap + Leaflet (no Google Maps)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· Stripe ya funciona para pagos en línea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· Validación admin de pagos = roadmap v2.0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6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Transportes Génesis v3.0</a:t>
            </a:r>
            <a:br/>
            <a:r>
              <a:t>¿Preguntas?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DBEAFE"/>
                </a:solidFill>
              </a:defRPr>
            </a:pPr>
            <a:r>
              <a:t>github.com/johnsvill/TransportesGenesis · Documento: Proyecto_Transportes_Genesis_v3_ACTUALIZADO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